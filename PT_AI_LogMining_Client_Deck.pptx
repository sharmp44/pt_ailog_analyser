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A2540">
              <a:alpha val="70000"/>
            </a:srgbClr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731520"/>
            <a:ext cx="3200400" cy="3200400"/>
          </a:xfrm>
          <a:prstGeom prst="oval">
            <a:avLst/>
          </a:prstGeom>
          <a:solidFill>
            <a:srgbClr val="1E88E5">
              <a:alpha val="18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2560320"/>
            <a:ext cx="2286000" cy="2286000"/>
          </a:xfrm>
          <a:prstGeom prst="oval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2011680" cy="292608"/>
          </a:xfrm>
          <a:prstGeom prst="rect">
            <a:avLst/>
          </a:prstGeom>
          <a:solidFill>
            <a:srgbClr val="00BCD4">
              <a:alpha val="85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AI-POWERED SOLUTION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6583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Performance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Log Mining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B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Root Cause Analysis  ·  .BLG  ·  IIS  ·  LoadRunner  ·  SQL Server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920240" cy="502920"/>
          </a:xfrm>
          <a:prstGeom prst="rect">
            <a:avLst/>
          </a:prstGeom>
          <a:solidFill>
            <a:srgbClr val="00C9A7">
              <a:alpha val="9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023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40% Faster RCA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42032" y="4023360"/>
            <a:ext cx="2286000" cy="502920"/>
          </a:xfrm>
          <a:prstGeom prst="rect">
            <a:avLst/>
          </a:prstGeom>
          <a:solidFill>
            <a:srgbClr val="1E88E5">
              <a:alpha val="9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2032" y="4023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Zero Manual Correlation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92624" y="4023360"/>
            <a:ext cx="1920240" cy="502920"/>
          </a:xfrm>
          <a:prstGeom prst="rect">
            <a:avLst/>
          </a:prstGeom>
          <a:solidFill>
            <a:srgbClr val="FFB300">
              <a:alpha val="9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92624" y="40233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 Sources → 1 Report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77456" y="4023360"/>
            <a:ext cx="1645920" cy="502920"/>
          </a:xfrm>
          <a:prstGeom prst="rect">
            <a:avLst/>
          </a:prstGeom>
          <a:solidFill>
            <a:srgbClr val="AB47BC">
              <a:alpha val="90000"/>
            </a:srgbClr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77456" y="4023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Streamlit Web UI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64592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RCA Is Costing You Hours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Load Test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600200"/>
            <a:ext cx="2743200" cy="283464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600200"/>
            <a:ext cx="274320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4 Disconnected Sources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65760" y="2880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B9CB8"/>
                </a:solidFill>
              </a:rPr>
              <a:t>.BLG, IIS logs, LoadRunner outputs and SQL Server metrics live in different formats with no shared schema or timeline.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1600200"/>
            <a:ext cx="2743200" cy="2834640"/>
          </a:xfrm>
          <a:prstGeom prst="rect">
            <a:avLst/>
          </a:prstGeom>
          <a:solidFill>
            <a:srgbClr val="0D2137"/>
          </a:solidFill>
          <a:ln w="25400">
            <a:solidFill>
              <a:srgbClr val="EF53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600200"/>
            <a:ext cx="2743200" cy="54864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830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9184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2–4 Hours Per RCA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291840" y="2880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B9CB8"/>
                </a:solidFill>
              </a:rPr>
              <a:t>Engineers manually open each file, align timestamps, and cross-reference metrics to find what went wrong.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26480" y="1600200"/>
            <a:ext cx="2743200" cy="2834640"/>
          </a:xfrm>
          <a:prstGeom prst="rect">
            <a:avLst/>
          </a:prstGeom>
          <a:solidFill>
            <a:srgbClr val="0D2137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600200"/>
            <a:ext cx="274320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1792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Root Cause Gets Missed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217920" y="2880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B9CB8"/>
                </a:solidFill>
              </a:rPr>
              <a:t>With manual review, correlated signals across sources are routinely missed, leading to re-tests and delays.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C4D8"/>
                </a:solidFill>
              </a:rPr>
              <a:t>"We spend more time finding the root cause than running the actual test."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THE 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One Drop Folder. Automatic Analysis. Instant RCA Report.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325880"/>
            <a:ext cx="1572768" cy="246888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325880"/>
            <a:ext cx="1572768" cy="73152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" y="2212848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① Ingest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28600" y="2606040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Auto-detect .BLG IIS LR SQL files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755648" y="228600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88E5"/>
                </a:solidFill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1965960" y="1325880"/>
            <a:ext cx="1572768" cy="2468880"/>
          </a:xfrm>
          <a:prstGeom prst="rect">
            <a:avLst/>
          </a:prstGeom>
          <a:solidFill>
            <a:srgbClr val="0D2137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965960" y="1325880"/>
            <a:ext cx="1572768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15544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11680" y="2212848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② Parse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011680" y="2606040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Unify schema &amp; tag test phases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538728" y="228600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3749040" y="1325880"/>
            <a:ext cx="1572768" cy="2468880"/>
          </a:xfrm>
          <a:prstGeom prst="rect">
            <a:avLst/>
          </a:prstGeom>
          <a:solidFill>
            <a:srgbClr val="0D2137"/>
          </a:solidFill>
          <a:ln w="254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749040" y="1325880"/>
            <a:ext cx="1572768" cy="7315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5544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94760" y="2212848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③ AI Agents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794760" y="2606040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5 detectors run in parallel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321808" y="228600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5532120" y="1325880"/>
            <a:ext cx="1572768" cy="2468880"/>
          </a:xfrm>
          <a:prstGeom prst="rect">
            <a:avLst/>
          </a:prstGeom>
          <a:solidFill>
            <a:srgbClr val="0D213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32120" y="1325880"/>
            <a:ext cx="1572768" cy="73152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554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2212848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④ Correlate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577840" y="2606040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Cross-source timeline &amp; RCA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7104888" y="228600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B47BC"/>
                </a:solidFill>
              </a:rPr>
              <a:t>›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7315200" y="1325880"/>
            <a:ext cx="1572768" cy="2468880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315200" y="1325880"/>
            <a:ext cx="1572768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1554480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360920" y="2212848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⑤ Report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7360920" y="2606040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HTML · PDF · Streamlit UI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457200" y="4069080"/>
            <a:ext cx="1828800" cy="868680"/>
          </a:xfrm>
          <a:prstGeom prst="rect">
            <a:avLst/>
          </a:prstGeom>
          <a:solidFill>
            <a:srgbClr val="0D2137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457200" y="41879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4,000+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457200" y="45171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9CB8"/>
                </a:solidFill>
              </a:rPr>
              <a:t>Events Ingested Per Run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2606040" y="4069080"/>
            <a:ext cx="1828800" cy="868680"/>
          </a:xfrm>
          <a:prstGeom prst="rect">
            <a:avLst/>
          </a:prstGeom>
          <a:solidFill>
            <a:srgbClr val="0D2137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2606040" y="41879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5</a:t>
            </a:r>
            <a:endParaRPr lang="en-US" sz="2200" dirty="0"/>
          </a:p>
        </p:txBody>
      </p:sp>
      <p:sp>
        <p:nvSpPr>
          <p:cNvPr id="39" name="Text 32"/>
          <p:cNvSpPr/>
          <p:nvPr/>
        </p:nvSpPr>
        <p:spPr>
          <a:xfrm>
            <a:off x="2606040" y="45171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9CB8"/>
                </a:solidFill>
              </a:rPr>
              <a:t>AI Agents in Parallel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4754880" y="4069080"/>
            <a:ext cx="1828800" cy="868680"/>
          </a:xfrm>
          <a:prstGeom prst="rect">
            <a:avLst/>
          </a:prstGeom>
          <a:solidFill>
            <a:srgbClr val="0D2137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754880" y="41879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&lt; 30s</a:t>
            </a:r>
            <a:endParaRPr lang="en-US" sz="2200" dirty="0"/>
          </a:p>
        </p:txBody>
      </p:sp>
      <p:sp>
        <p:nvSpPr>
          <p:cNvPr id="42" name="Text 35"/>
          <p:cNvSpPr/>
          <p:nvPr/>
        </p:nvSpPr>
        <p:spPr>
          <a:xfrm>
            <a:off x="4754880" y="45171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9CB8"/>
                </a:solidFill>
              </a:rPr>
              <a:t>End-to-End Pipeline Time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6903720" y="4069080"/>
            <a:ext cx="1828800" cy="868680"/>
          </a:xfrm>
          <a:prstGeom prst="rect">
            <a:avLst/>
          </a:prstGeom>
          <a:solidFill>
            <a:srgbClr val="0D2137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6903720" y="41879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D4"/>
                </a:solidFill>
              </a:rPr>
              <a:t>40%</a:t>
            </a:r>
            <a:endParaRPr lang="en-US" sz="2200" dirty="0"/>
          </a:p>
        </p:txBody>
      </p:sp>
      <p:sp>
        <p:nvSpPr>
          <p:cNvPr id="45" name="Text 38"/>
          <p:cNvSpPr/>
          <p:nvPr/>
        </p:nvSpPr>
        <p:spPr>
          <a:xfrm>
            <a:off x="6903720" y="45171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9CB8"/>
                </a:solidFill>
              </a:rPr>
              <a:t>RCA Time Reduction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PHASE 1–2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Ingests All 4 Log Sources — Automatically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828800" cy="1298448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182880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527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12344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.BLG — PerfMon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" y="165506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CPU, Memory, Disk I/O, Network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3192" y="200253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Process handles &amp; working set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331720" y="1143000"/>
            <a:ext cx="1828800" cy="1298448"/>
          </a:xfrm>
          <a:prstGeom prst="rect">
            <a:avLst/>
          </a:prstGeom>
          <a:solidFill>
            <a:srgbClr val="0D2137"/>
          </a:solidFill>
          <a:ln w="254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331720" y="1143000"/>
            <a:ext cx="1828800" cy="5486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2527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12344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IIS Logs — W3C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404872" y="165506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Request latency &amp; HTTP status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2404872" y="200253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URI stems, bytes, time-taken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20040" y="2606040"/>
            <a:ext cx="1828800" cy="1298448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0040" y="2606040"/>
            <a:ext cx="18288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71576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2960" y="26974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LoadRunner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393192" y="31181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p50/p90/p95 response times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393192" y="3465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Vuser error logs + results CSV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2331720" y="2606040"/>
            <a:ext cx="1828800" cy="1298448"/>
          </a:xfrm>
          <a:prstGeom prst="rect">
            <a:avLst/>
          </a:prstGeom>
          <a:solidFill>
            <a:srgbClr val="0D2137"/>
          </a:solidFill>
          <a:ln w="25400">
            <a:solidFill>
              <a:srgbClr val="43A0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2331720" y="2606040"/>
            <a:ext cx="1828800" cy="54864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2715768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834640" y="26974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SQL Server — PerfMon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2404872" y="31181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Buffer cache, PLE, deadlocks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2404872" y="3465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9CB8"/>
                </a:solidFill>
              </a:rPr>
              <a:t>›  Batch req, lock waits, blocked procs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2331720" y="4005072"/>
            <a:ext cx="1828800" cy="256032"/>
          </a:xfrm>
          <a:prstGeom prst="rect">
            <a:avLst/>
          </a:prstGeom>
          <a:solidFill>
            <a:srgbClr val="43A047">
              <a:alpha val="80000"/>
            </a:srgbClr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2331720" y="4005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NEW — SQL Server Support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343400" y="1143000"/>
            <a:ext cx="4434840" cy="3566160"/>
          </a:xfrm>
          <a:prstGeom prst="rect">
            <a:avLst/>
          </a:prstGeom>
          <a:solidFill>
            <a:srgbClr val="0D2137"/>
          </a:solidFill>
          <a:ln w="127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343400" y="1143000"/>
            <a:ext cx="443484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4480560" y="123444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</a:rPr>
              <a:t>Phase 2 — Normalise &amp; Store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4480560" y="1764792"/>
            <a:ext cx="201168" cy="201168"/>
          </a:xfrm>
          <a:prstGeom prst="oval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773168" y="16916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Unified Schema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4773168" y="19476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All 4 sources → {timestamp, source, metric, value, severity}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480560" y="2313432"/>
            <a:ext cx="201168" cy="201168"/>
          </a:xfrm>
          <a:prstGeom prst="oval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773168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UTC Timestamp Align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4773168" y="24963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Eliminates timezone drift across all log sources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4480560" y="2862072"/>
            <a:ext cx="201168" cy="201168"/>
          </a:xfrm>
          <a:prstGeom prst="oval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4773168" y="2788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Phase Tagging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4773168" y="304495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Labels every row: ramp_up | steady_state | ramp_down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480560" y="3410712"/>
            <a:ext cx="201168" cy="201168"/>
          </a:xfrm>
          <a:prstGeom prst="oval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4773168" y="3337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DuckDB Storage</a:t>
            </a: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4773168" y="35935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Fast SQL window queries for anomaly &amp; trend detection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4480560" y="3959352"/>
            <a:ext cx="201168" cy="201168"/>
          </a:xfrm>
          <a:prstGeom prst="oval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4773168" y="3886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SQL SLA Thresholds</a:t>
            </a:r>
            <a:endParaRPr lang="en-US" sz="1100" dirty="0"/>
          </a:p>
        </p:txBody>
      </p:sp>
      <p:sp>
        <p:nvSpPr>
          <p:cNvPr id="48" name="Text 42"/>
          <p:cNvSpPr/>
          <p:nvPr/>
        </p:nvSpPr>
        <p:spPr>
          <a:xfrm>
            <a:off x="4773168" y="414223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PLE, buffer cache hit %, deadlocks — all checked automatically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PHASE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 Specialist AI Agents Run in Parallel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188720"/>
            <a:ext cx="1572768" cy="3429000"/>
          </a:xfrm>
          <a:prstGeom prst="rect">
            <a:avLst/>
          </a:prstGeom>
          <a:solidFill>
            <a:srgbClr val="0D2137"/>
          </a:solidFill>
          <a:ln w="25400">
            <a:solidFill>
              <a:srgbClr val="EF53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188720"/>
            <a:ext cx="1572768" cy="64008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71600"/>
            <a:ext cx="566928" cy="566928"/>
          </a:xfrm>
          <a:prstGeom prst="oval">
            <a:avLst/>
          </a:prstGeom>
          <a:solidFill>
            <a:srgbClr val="EF5350">
              <a:alpha val="80000"/>
            </a:srgbClr>
          </a:solidFill>
          <a:ln w="12700">
            <a:solidFill>
              <a:srgbClr val="EF535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26464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205740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Anomaly Agent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56032" y="2542032"/>
            <a:ext cx="14264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Z-score, IQR &amp; Isolation Forest on every metric. Flags statistical outliers vs baseline.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74320" y="4251960"/>
            <a:ext cx="1389888" cy="256032"/>
          </a:xfrm>
          <a:prstGeom prst="rect">
            <a:avLst/>
          </a:prstGeom>
          <a:solidFill>
            <a:srgbClr val="EF5350">
              <a:alpha val="40000"/>
            </a:srgbClr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" y="42519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scikit-learn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1956816" y="1188720"/>
            <a:ext cx="1572768" cy="342900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956816" y="1188720"/>
            <a:ext cx="1572768" cy="6400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59736" y="1371600"/>
            <a:ext cx="566928" cy="566928"/>
          </a:xfrm>
          <a:prstGeom prst="oval">
            <a:avLst/>
          </a:prstGeom>
          <a:solidFill>
            <a:srgbClr val="1E88E5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426464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002536" y="205740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Trend Agent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2029968" y="2542032"/>
            <a:ext cx="14264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Detects monotonic degradation: memory leaks, handle creep, response time drift.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2048256" y="4251960"/>
            <a:ext cx="1389888" cy="256032"/>
          </a:xfrm>
          <a:prstGeom prst="rect">
            <a:avLst/>
          </a:prstGeom>
          <a:solidFill>
            <a:srgbClr val="1E88E5">
              <a:alpha val="4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048256" y="42519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SciPy / Linear Regression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30752" y="1188720"/>
            <a:ext cx="1572768" cy="3429000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730752" y="1188720"/>
            <a:ext cx="1572768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33672" y="1371600"/>
            <a:ext cx="566928" cy="566928"/>
          </a:xfrm>
          <a:prstGeom prst="oval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426464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776472" y="205740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Threshold Agent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3803904" y="2542032"/>
            <a:ext cx="14264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SLA breach detection: p95, error rate, TPS drop, SQL PLE, deadlocks &amp; more.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22192" y="4251960"/>
            <a:ext cx="1389888" cy="256032"/>
          </a:xfrm>
          <a:prstGeom prst="rect">
            <a:avLst/>
          </a:prstGeom>
          <a:solidFill>
            <a:srgbClr val="00C9A7">
              <a:alpha val="4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822192" y="42519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Rule Engine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504688" y="1188720"/>
            <a:ext cx="1572768" cy="3429000"/>
          </a:xfrm>
          <a:prstGeom prst="rect">
            <a:avLst/>
          </a:prstGeom>
          <a:solidFill>
            <a:srgbClr val="0D213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504688" y="1188720"/>
            <a:ext cx="1572768" cy="64008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007608" y="1371600"/>
            <a:ext cx="566928" cy="566928"/>
          </a:xfrm>
          <a:prstGeom prst="oval">
            <a:avLst/>
          </a:prstGeom>
          <a:solidFill>
            <a:srgbClr val="AB47BC">
              <a:alpha val="80000"/>
            </a:srgbClr>
          </a:solidFill>
          <a:ln w="12700">
            <a:solidFill>
              <a:srgbClr val="AB47BC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472" y="1426464"/>
            <a:ext cx="457200" cy="45720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550408" y="205740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Pattern Agent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5577840" y="2542032"/>
            <a:ext cx="14264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Finds OOM events, stack traces, timeout clusters, 5xx spikes in raw log text.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5596128" y="4251960"/>
            <a:ext cx="1389888" cy="256032"/>
          </a:xfrm>
          <a:prstGeom prst="rect">
            <a:avLst/>
          </a:prstGeom>
          <a:solidFill>
            <a:srgbClr val="AB47BC">
              <a:alpha val="40000"/>
            </a:srgbClr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5596128" y="42519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Regex + GPT-4o</a:t>
            </a:r>
            <a:endParaRPr lang="en-US" sz="800" dirty="0"/>
          </a:p>
        </p:txBody>
      </p:sp>
      <p:sp>
        <p:nvSpPr>
          <p:cNvPr id="37" name="Shape 31"/>
          <p:cNvSpPr/>
          <p:nvPr/>
        </p:nvSpPr>
        <p:spPr>
          <a:xfrm>
            <a:off x="7278624" y="1188720"/>
            <a:ext cx="1572768" cy="3429000"/>
          </a:xfrm>
          <a:prstGeom prst="rect">
            <a:avLst/>
          </a:prstGeom>
          <a:solidFill>
            <a:srgbClr val="0D2137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278624" y="1188720"/>
            <a:ext cx="1572768" cy="64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7781544" y="1371600"/>
            <a:ext cx="566928" cy="566928"/>
          </a:xfrm>
          <a:prstGeom prst="oval">
            <a:avLst/>
          </a:prstGeom>
          <a:solidFill>
            <a:srgbClr val="FFB300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6408" y="1426464"/>
            <a:ext cx="457200" cy="45720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324344" y="205740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Causal Agent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7351776" y="2542032"/>
            <a:ext cx="14264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Synthesises all agent findings into a cause-effect chain with ranked hypotheses.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7370064" y="4251960"/>
            <a:ext cx="1389888" cy="256032"/>
          </a:xfrm>
          <a:prstGeom prst="rect">
            <a:avLst/>
          </a:prstGeom>
          <a:solidFill>
            <a:srgbClr val="FFB300">
              <a:alpha val="4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7370064" y="42519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GPT-4o Reasoning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PHASE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From Signal Soup to Ranked Root Causes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566160"/>
          </a:xfrm>
          <a:prstGeom prst="rect">
            <a:avLst/>
          </a:prstGeom>
          <a:solidFill>
            <a:srgbClr val="0D2137"/>
          </a:solidFill>
          <a:ln w="127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984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BCD4"/>
                </a:solidFill>
              </a:rPr>
              <a:t>How It Works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746504"/>
            <a:ext cx="274320" cy="27432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719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Timeline Alignment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199339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Merges anomaly, trend, threshold &amp; pattern events onto one chronological timeline.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459736"/>
            <a:ext cx="274320" cy="27432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43230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Leading Indicator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270662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Identifies which metric degraded FIRST — before user-visible impact began.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172968"/>
            <a:ext cx="274320" cy="27432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172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1455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Causal Chain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41985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GPT-4o reads all agent findings together and builds a cause → effect chain.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886200"/>
            <a:ext cx="274320" cy="27432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" y="38587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Ranked Hypotheses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9CB8"/>
                </a:solidFill>
              </a:rPr>
              <a:t>Up to 5 root cause hypotheses ranked by evidence strength.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1188720"/>
            <a:ext cx="4114800" cy="3566160"/>
          </a:xfrm>
          <a:prstGeom prst="rect">
            <a:avLst/>
          </a:prstGeom>
          <a:solidFill>
            <a:srgbClr val="0D2137"/>
          </a:solidFill>
          <a:ln w="127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00600" y="12984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C9A7"/>
                </a:solidFill>
              </a:rPr>
              <a:t>Confidence Scoring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800600" y="1737360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B9CB8"/>
                </a:solidFill>
              </a:rPr>
              <a:t>Each finding is scored by how many independent log sources corroborate it: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0600" y="2331720"/>
            <a:ext cx="914400" cy="320040"/>
          </a:xfrm>
          <a:prstGeom prst="rect">
            <a:avLst/>
          </a:prstGeom>
          <a:solidFill>
            <a:srgbClr val="00C9A7">
              <a:alpha val="85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HIGH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06440" y="23500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.BLG + IIS + LR + SQL all point to same issue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3081528"/>
            <a:ext cx="914400" cy="320040"/>
          </a:xfrm>
          <a:prstGeom prst="rect">
            <a:avLst/>
          </a:prstGeom>
          <a:solidFill>
            <a:srgbClr val="FFB300">
              <a:alpha val="85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0815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MEDIUM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06440" y="3099816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2–3 of 4 sources corroborate the finding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3831336"/>
            <a:ext cx="914400" cy="320040"/>
          </a:xfrm>
          <a:prstGeom prst="rect">
            <a:avLst/>
          </a:prstGeom>
          <a:solidFill>
            <a:srgbClr val="EF5350">
              <a:alpha val="85000"/>
            </a:srgbClr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83133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06440" y="3849624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Single source signal — needs further validation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00600" y="4251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B9CB8"/>
                </a:solidFill>
              </a:rPr>
              <a:t>This mirrors how senior engineers think — a finding only seen in one log is suspicious; one corroborated by all four is definitive.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PHASE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Three Ways to View Your RCA Report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97480" cy="3520440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26974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168" y="1426464"/>
            <a:ext cx="658368" cy="658368"/>
          </a:xfrm>
          <a:prstGeom prst="oval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1481328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21284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Streamlit Web UI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9768" y="2670048"/>
            <a:ext cx="248716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Upload logs from any location. Phase-by-phase progress, live verdict badge, tabbed findings, download buttons — all in-browser. No CLI needed.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41832" y="4645152"/>
            <a:ext cx="1463040" cy="237744"/>
          </a:xfrm>
          <a:prstGeom prst="rect">
            <a:avLst/>
          </a:prstGeom>
          <a:solidFill>
            <a:srgbClr val="00C9A7">
              <a:alpha val="90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1832" y="46451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NEW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246120" y="1234440"/>
            <a:ext cx="2697480" cy="3520440"/>
          </a:xfrm>
          <a:prstGeom prst="rect">
            <a:avLst/>
          </a:prstGeom>
          <a:solidFill>
            <a:srgbClr val="0D2137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46120" y="1234440"/>
            <a:ext cx="2697480" cy="6400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70248" y="1426464"/>
            <a:ext cx="658368" cy="658368"/>
          </a:xfrm>
          <a:prstGeom prst="oval">
            <a:avLst/>
          </a:prstGeom>
          <a:solidFill>
            <a:srgbClr val="FFB300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1481328"/>
            <a:ext cx="548640" cy="5486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37560" y="221284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HTML Report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355848" y="2670048"/>
            <a:ext cx="248716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Full dark-theme interactive report. Executive summary, KPI tiles, anomaly tables, cause-effect chain, timeline. Opens in any browser.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72200" y="1234440"/>
            <a:ext cx="2697480" cy="352044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72200" y="1234440"/>
            <a:ext cx="2697480" cy="6400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196328" y="1426464"/>
            <a:ext cx="658368" cy="658368"/>
          </a:xfrm>
          <a:prstGeom prst="oval">
            <a:avLst/>
          </a:prstGeom>
          <a:solidFill>
            <a:srgbClr val="1E88E5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481328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21284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PDF Export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281928" y="2670048"/>
            <a:ext cx="248716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7B9CB8"/>
                </a:solidFill>
              </a:rPr>
              <a:t>Clean white PDF with all findings — verdict, threshold breaches, anomalies, timeline. Ready to email or attach to a JIRA ticket.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BUSINESS IMPACT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Before vs. After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3931920" cy="3520440"/>
          </a:xfrm>
          <a:prstGeom prst="rect">
            <a:avLst/>
          </a:prstGeom>
          <a:solidFill>
            <a:srgbClr val="1A0A0A"/>
          </a:solidFill>
          <a:ln w="25400">
            <a:solidFill>
              <a:srgbClr val="EF53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88720"/>
            <a:ext cx="3931920" cy="41148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88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BEFORE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8A80"/>
                </a:solidFill>
              </a:rPr>
              <a:t>✗  2–4 hours of manual RCA per test run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8A80"/>
                </a:solidFill>
              </a:rPr>
              <a:t>✗  4 separate tools open simultaneously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614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8A80"/>
                </a:solidFill>
              </a:rPr>
              <a:t>✗  Timestamps manually aligned in spreadsheets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735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8A80"/>
                </a:solidFill>
              </a:rPr>
              <a:t>✗  Root cause often missed or guessed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8561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8A80"/>
                </a:solidFill>
              </a:rPr>
              <a:t>✗  Findings written up from memory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92040" y="1188720"/>
            <a:ext cx="3931920" cy="3520440"/>
          </a:xfrm>
          <a:prstGeom prst="rect">
            <a:avLst/>
          </a:prstGeom>
          <a:solidFill>
            <a:srgbClr val="001A10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188720"/>
            <a:ext cx="3931920" cy="4114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188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AFTER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9F0AE"/>
                </a:solidFill>
              </a:rPr>
              <a:t>✓  &lt; 30s pipeline — drag &amp; drop any log file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2494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9F0AE"/>
                </a:solidFill>
              </a:rPr>
              <a:t>✓  Streamlit UI — no CLI, no terminal needed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7614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9F0AE"/>
                </a:solidFill>
              </a:rPr>
              <a:t>✓  All 4 sources unified on one timeline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2735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9F0AE"/>
                </a:solidFill>
              </a:rPr>
              <a:t>✓  Ranked root causes with confidence scores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378561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9F0AE"/>
                </a:solidFill>
              </a:rPr>
              <a:t>✓  PDF + HTML report ready to share instantly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29100" y="2286000"/>
            <a:ext cx="685800" cy="685800"/>
          </a:xfrm>
          <a:prstGeom prst="oval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29100" y="2286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UNDER THE HOOD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Built on Battle-Tested, Enterprise-Ready Technology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1572768" cy="361188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188720"/>
            <a:ext cx="1572768" cy="347472"/>
          </a:xfrm>
          <a:prstGeom prst="rect">
            <a:avLst/>
          </a:prstGeom>
          <a:solidFill>
            <a:srgbClr val="1E88E5">
              <a:alpha val="85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887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Ingestion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1752" y="1664208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Python watchdog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01752" y="2286000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relog / perfmon2csv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1752" y="2907792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W3C IIS Parser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1752" y="3529584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LR result + vuser log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1752" y="4151376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SQL Server PerfMon CSV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993392" y="1188720"/>
            <a:ext cx="1572768" cy="3611880"/>
          </a:xfrm>
          <a:prstGeom prst="rect">
            <a:avLst/>
          </a:prstGeom>
          <a:solidFill>
            <a:srgbClr val="0D2137"/>
          </a:solidFill>
          <a:ln w="254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993392" y="1188720"/>
            <a:ext cx="1572768" cy="347472"/>
          </a:xfrm>
          <a:prstGeom prst="rect">
            <a:avLst/>
          </a:prstGeom>
          <a:solidFill>
            <a:srgbClr val="00BCD4">
              <a:alpha val="85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9112" y="11887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Layer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66544" y="1664208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pandas / numpy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66544" y="2286000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DuckDB (SQL analytics)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66544" y="2907792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Unified schema ORM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066544" y="3529584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Run-ID versioning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66544" y="4151376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UTC timestamp alignment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58184" y="1188720"/>
            <a:ext cx="1572768" cy="3611880"/>
          </a:xfrm>
          <a:prstGeom prst="rect">
            <a:avLst/>
          </a:prstGeom>
          <a:solidFill>
            <a:srgbClr val="0D213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58184" y="1188720"/>
            <a:ext cx="1572768" cy="347472"/>
          </a:xfrm>
          <a:prstGeom prst="rect">
            <a:avLst/>
          </a:prstGeom>
          <a:solidFill>
            <a:srgbClr val="AB47BC">
              <a:alpha val="85000"/>
            </a:srgbClr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03904" y="11887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AI / ML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31336" y="1664208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scikit-learn (IsolationForest)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831336" y="2286000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SciPy (linear regression)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31336" y="2907792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GPT-4o (pattern + RCA)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31336" y="3529584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Rule engine (SLA + SQL SLA)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522976" y="1188720"/>
            <a:ext cx="1572768" cy="3611880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522976" y="1188720"/>
            <a:ext cx="1572768" cy="347472"/>
          </a:xfrm>
          <a:prstGeom prst="rect">
            <a:avLst/>
          </a:prstGeom>
          <a:solidFill>
            <a:srgbClr val="00C9A7">
              <a:alpha val="85000"/>
            </a:srgbClr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68696" y="11887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Reporting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96128" y="1664208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0C9A7"/>
                </a:solidFill>
              </a:rPr>
              <a:t>›  Streamlit Web UI (new)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596128" y="2286000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Jinja2 HTML templates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96128" y="2907792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xhtml2pdf (PDF export)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96128" y="3529584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JSON / DuckDB artefacts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87768" y="1188720"/>
            <a:ext cx="1572768" cy="3611880"/>
          </a:xfrm>
          <a:prstGeom prst="rect">
            <a:avLst/>
          </a:prstGeom>
          <a:solidFill>
            <a:srgbClr val="0D2137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287768" y="1188720"/>
            <a:ext cx="1572768" cy="347472"/>
          </a:xfrm>
          <a:prstGeom prst="rect">
            <a:avLst/>
          </a:prstGeom>
          <a:solidFill>
            <a:srgbClr val="FFB300">
              <a:alpha val="85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11887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Ops &amp; DevEx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60920" y="1664208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Typer CLI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360920" y="2286000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python-dotenv config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360920" y="2907792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config.yaml / overrides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360920" y="3529584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›  VSCode launch configs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360920" y="4151376"/>
            <a:ext cx="14447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00C9A7"/>
                </a:solidFill>
              </a:rPr>
              <a:t>›  GitHub (sharmp44)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5486400" cy="5486400"/>
          </a:xfrm>
          <a:prstGeom prst="oval">
            <a:avLst/>
          </a:prstGeom>
          <a:solidFill>
            <a:srgbClr val="1E88E5">
              <a:alpha val="1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828800"/>
            <a:ext cx="4572000" cy="4572000"/>
          </a:xfrm>
          <a:prstGeom prst="oval">
            <a:avLst/>
          </a:prstGeom>
          <a:solidFill>
            <a:srgbClr val="00C9A7">
              <a:alpha val="10000"/>
            </a:srgbClr>
          </a:solidFill>
          <a:ln w="12700">
            <a:solidFill>
              <a:srgbClr val="00C9A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Ready to Cut RCA Time by 40%?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2148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9CB8"/>
                </a:solidFill>
              </a:rPr>
              <a:t>The pipeline is built, tested, on GitHub, and running with a web UI. Here's how we move forward.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2788920"/>
            <a:ext cx="1965960" cy="1920240"/>
          </a:xfrm>
          <a:prstGeom prst="rect">
            <a:avLst/>
          </a:prstGeom>
          <a:solidFill>
            <a:srgbClr val="0D2137"/>
          </a:solidFill>
          <a:ln w="25400">
            <a:solidFill>
              <a:srgbClr val="1E88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78992" y="2889504"/>
            <a:ext cx="530352" cy="438912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8992" y="2889504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3419856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Pilot Run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822192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Open Streamlit UI, upload your real log files. Get a full RCA report in &lt; 30 seconds.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514600" y="2788920"/>
            <a:ext cx="1965960" cy="1920240"/>
          </a:xfrm>
          <a:prstGeom prst="rect">
            <a:avLst/>
          </a:prstGeom>
          <a:solidFill>
            <a:srgbClr val="0D2137"/>
          </a:solidFill>
          <a:ln w="25400">
            <a:solidFill>
              <a:srgbClr val="00C9A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27832" y="2889504"/>
            <a:ext cx="530352" cy="43891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27832" y="2889504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606040" y="3419856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Tune SLAs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606040" y="3822192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Update config.yaml with your SLA thresholds — latency, CPU, SQL PLE, deadlocks.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663440" y="2788920"/>
            <a:ext cx="1965960" cy="1920240"/>
          </a:xfrm>
          <a:prstGeom prst="rect">
            <a:avLst/>
          </a:prstGeom>
          <a:solidFill>
            <a:srgbClr val="0D2137"/>
          </a:solidFill>
          <a:ln w="25400">
            <a:solidFill>
              <a:srgbClr val="FFB3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376672" y="2889504"/>
            <a:ext cx="530352" cy="438912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76672" y="2889504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54880" y="3419856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Add OpenAI Key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54880" y="3822192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Set OPENAI_API_KEY in .env to unlock GPT-4o semantic pattern detection and causal RCA.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812280" y="2788920"/>
            <a:ext cx="1965960" cy="1920240"/>
          </a:xfrm>
          <a:prstGeom prst="rect">
            <a:avLst/>
          </a:prstGeom>
          <a:solidFill>
            <a:srgbClr val="0D2137"/>
          </a:solidFill>
          <a:ln w="25400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525512" y="2889504"/>
            <a:ext cx="530352" cy="43891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25512" y="2889504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903720" y="3419856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Integrate &amp; Scale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903720" y="3822192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B9CB8"/>
                </a:solidFill>
              </a:rPr>
              <a:t>Add to CI/CD. Trigger automatically at the end of every load test run.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AI-Driven PT Log Mining – Client Pitch v2</dc:title>
  <dc:subject>PptxGenJS Presentation</dc:subject>
  <dc:creator>PptxGenJS</dc:creator>
  <cp:lastModifiedBy>PptxGenJS</cp:lastModifiedBy>
  <cp:revision>1</cp:revision>
  <dcterms:created xsi:type="dcterms:W3CDTF">2026-06-20T07:46:01Z</dcterms:created>
  <dcterms:modified xsi:type="dcterms:W3CDTF">2026-06-20T07:46:01Z</dcterms:modified>
</cp:coreProperties>
</file>