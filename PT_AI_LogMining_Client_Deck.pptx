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A2540">
              <a:alpha val="70000"/>
            </a:srgbClr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731520"/>
            <a:ext cx="3200400" cy="3200400"/>
          </a:xfrm>
          <a:prstGeom prst="oval">
            <a:avLst/>
          </a:prstGeom>
          <a:solidFill>
            <a:srgbClr val="1E88E5">
              <a:alpha val="18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2560320"/>
            <a:ext cx="2286000" cy="2286000"/>
          </a:xfrm>
          <a:prstGeom prst="oval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2011680" cy="292608"/>
          </a:xfrm>
          <a:prstGeom prst="rect">
            <a:avLst/>
          </a:prstGeom>
          <a:solidFill>
            <a:srgbClr val="00BCD4">
              <a:alpha val="85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AI-POWERED SOLUTION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6583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Performance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Log Mining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Root Cause Analysis across .BLG  ·  IIS  ·  LoadRunner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2194560" cy="502920"/>
          </a:xfrm>
          <a:prstGeom prst="rect">
            <a:avLst/>
          </a:prstGeom>
          <a:solidFill>
            <a:srgbClr val="00C9A7">
              <a:alpha val="9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023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40% Faster RCA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34640" y="4023360"/>
            <a:ext cx="2377440" cy="502920"/>
          </a:xfrm>
          <a:prstGeom prst="rect">
            <a:avLst/>
          </a:prstGeom>
          <a:solidFill>
            <a:srgbClr val="1E88E5">
              <a:alpha val="9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Zero Manual Correlation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94960" y="4023360"/>
            <a:ext cx="2011680" cy="502920"/>
          </a:xfrm>
          <a:prstGeom prst="rect">
            <a:avLst/>
          </a:prstGeom>
          <a:solidFill>
            <a:srgbClr val="FFB300">
              <a:alpha val="9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4023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Log Sources → 1 Report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64592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3774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RCA Is Costing You Hours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Load Test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2743200" cy="2834640"/>
          </a:xfrm>
          <a:prstGeom prst="rect">
            <a:avLst/>
          </a:prstGeom>
          <a:solidFill>
            <a:srgbClr val="0D2137"/>
          </a:solidFill>
          <a:ln w="254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600200"/>
            <a:ext cx="27432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830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331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3 Disconnected Sources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65760" y="288036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B9CB8"/>
                </a:solidFill>
              </a:rPr>
              <a:t>.BLG, IIS logs, and LoadRunner outputs live in different formats with no shared schema or timeline.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600200"/>
            <a:ext cx="2743200" cy="2834640"/>
          </a:xfrm>
          <a:prstGeom prst="rect">
            <a:avLst/>
          </a:prstGeom>
          <a:solidFill>
            <a:srgbClr val="0D2137"/>
          </a:solidFill>
          <a:ln w="2540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600200"/>
            <a:ext cx="2743200" cy="5486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7830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2331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2–4 Hours Per RCA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291840" y="288036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B9CB8"/>
                </a:solidFill>
              </a:rPr>
              <a:t>Engineers manually open each file, align timestamps, and cross-reference metrics to find what went wrong.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1600200"/>
            <a:ext cx="2743200" cy="2834640"/>
          </a:xfrm>
          <a:prstGeom prst="rect">
            <a:avLst/>
          </a:prstGeom>
          <a:solidFill>
            <a:srgbClr val="0D2137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600200"/>
            <a:ext cx="274320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830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2331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Root Cause Gets Missed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217920" y="288036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B9CB8"/>
                </a:solidFill>
              </a:rPr>
              <a:t>With manual review, correlated signals across sources are routinely missed, leading to re-tests and delays.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C4D8"/>
                </a:solidFill>
              </a:rPr>
              <a:t>"We spend more time finding the root cause than running the actual test."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377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THE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One Drop Folder. Automatic Analysis. Instant RCA Report.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1325880"/>
            <a:ext cx="1572768" cy="2468880"/>
          </a:xfrm>
          <a:prstGeom prst="rect">
            <a:avLst/>
          </a:prstGeom>
          <a:solidFill>
            <a:srgbClr val="0D2137"/>
          </a:solidFill>
          <a:ln w="254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325880"/>
            <a:ext cx="1572768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221284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① Ingest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28600" y="2606040"/>
            <a:ext cx="14813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Auto-detect .BLG IIS LR files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755648" y="228600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88E5"/>
                </a:solidFill>
              </a:rPr>
              <a:t>›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1965960" y="1325880"/>
            <a:ext cx="1572768" cy="2468880"/>
          </a:xfrm>
          <a:prstGeom prst="rect">
            <a:avLst/>
          </a:prstGeom>
          <a:solidFill>
            <a:srgbClr val="0D2137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965960" y="1325880"/>
            <a:ext cx="1572768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55448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11680" y="221284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② Parse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011680" y="2606040"/>
            <a:ext cx="14813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Unify schema &amp; tag test phases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538728" y="228600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</a:rPr>
              <a:t>›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3749040" y="1325880"/>
            <a:ext cx="1572768" cy="2468880"/>
          </a:xfrm>
          <a:prstGeom prst="rect">
            <a:avLst/>
          </a:prstGeom>
          <a:solidFill>
            <a:srgbClr val="0D2137"/>
          </a:solidFill>
          <a:ln w="254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749040" y="1325880"/>
            <a:ext cx="1572768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55448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794760" y="221284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③ AI Agents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794760" y="2606040"/>
            <a:ext cx="14813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5 detectors run in parallel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5321808" y="228600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</a:rPr>
              <a:t>›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5532120" y="1325880"/>
            <a:ext cx="1572768" cy="2468880"/>
          </a:xfrm>
          <a:prstGeom prst="rect">
            <a:avLst/>
          </a:prstGeom>
          <a:solidFill>
            <a:srgbClr val="0D2137"/>
          </a:solidFill>
          <a:ln w="25400">
            <a:solidFill>
              <a:srgbClr val="AB47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532120" y="1325880"/>
            <a:ext cx="1572768" cy="73152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554480"/>
            <a:ext cx="548640" cy="5486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77840" y="221284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④ Correlate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577840" y="2606040"/>
            <a:ext cx="14813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Cross-source timeline &amp; RCA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7104888" y="228600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B47BC"/>
                </a:solidFill>
              </a:rPr>
              <a:t>›</a:t>
            </a:r>
            <a:endParaRPr lang="en-US" sz="2200" dirty="0"/>
          </a:p>
        </p:txBody>
      </p:sp>
      <p:sp>
        <p:nvSpPr>
          <p:cNvPr id="29" name="Shape 23"/>
          <p:cNvSpPr/>
          <p:nvPr/>
        </p:nvSpPr>
        <p:spPr>
          <a:xfrm>
            <a:off x="7315200" y="1325880"/>
            <a:ext cx="1572768" cy="2468880"/>
          </a:xfrm>
          <a:prstGeom prst="rect">
            <a:avLst/>
          </a:prstGeom>
          <a:solidFill>
            <a:srgbClr val="0D2137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315200" y="1325880"/>
            <a:ext cx="1572768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1554480"/>
            <a:ext cx="548640" cy="5486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360920" y="221284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⑤ Report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7360920" y="2606040"/>
            <a:ext cx="14813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HTML + PDF auto-generated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457200" y="4069080"/>
            <a:ext cx="18288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457200" y="41879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</a:rPr>
              <a:t>4,000+</a:t>
            </a:r>
            <a:endParaRPr lang="en-US" sz="2200" dirty="0"/>
          </a:p>
        </p:txBody>
      </p:sp>
      <p:sp>
        <p:nvSpPr>
          <p:cNvPr id="36" name="Text 29"/>
          <p:cNvSpPr/>
          <p:nvPr/>
        </p:nvSpPr>
        <p:spPr>
          <a:xfrm>
            <a:off x="457200" y="451713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CB8"/>
                </a:solidFill>
              </a:rPr>
              <a:t>Events Ingested Per Run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2606040" y="4069080"/>
            <a:ext cx="18288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2606040" y="41879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</a:rPr>
              <a:t>5</a:t>
            </a:r>
            <a:endParaRPr lang="en-US" sz="2200" dirty="0"/>
          </a:p>
        </p:txBody>
      </p:sp>
      <p:sp>
        <p:nvSpPr>
          <p:cNvPr id="39" name="Text 32"/>
          <p:cNvSpPr/>
          <p:nvPr/>
        </p:nvSpPr>
        <p:spPr>
          <a:xfrm>
            <a:off x="2606040" y="451713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CB8"/>
                </a:solidFill>
              </a:rPr>
              <a:t>AI Agents Running in Parallel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4754880" y="4069080"/>
            <a:ext cx="18288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4754880" y="41879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</a:rPr>
              <a:t>&lt; 30s</a:t>
            </a:r>
            <a:endParaRPr lang="en-US" sz="2200" dirty="0"/>
          </a:p>
        </p:txBody>
      </p:sp>
      <p:sp>
        <p:nvSpPr>
          <p:cNvPr id="42" name="Text 35"/>
          <p:cNvSpPr/>
          <p:nvPr/>
        </p:nvSpPr>
        <p:spPr>
          <a:xfrm>
            <a:off x="4754880" y="451713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CB8"/>
                </a:solidFill>
              </a:rPr>
              <a:t>End-to-End Pipeline Time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6903720" y="4069080"/>
            <a:ext cx="18288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6903720" y="41879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</a:rPr>
              <a:t>40%</a:t>
            </a:r>
            <a:endParaRPr lang="en-US" sz="2200" dirty="0"/>
          </a:p>
        </p:txBody>
      </p:sp>
      <p:sp>
        <p:nvSpPr>
          <p:cNvPr id="45" name="Text 38"/>
          <p:cNvSpPr/>
          <p:nvPr/>
        </p:nvSpPr>
        <p:spPr>
          <a:xfrm>
            <a:off x="6903720" y="451713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CB8"/>
                </a:solidFill>
              </a:rPr>
              <a:t>RCA Time Reduction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3774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1–2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Ingests All Your Log Sources — Automatically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1051560"/>
          </a:xfrm>
          <a:prstGeom prst="rect">
            <a:avLst/>
          </a:prstGeom>
          <a:solidFill>
            <a:srgbClr val="0D2137"/>
          </a:solidFill>
          <a:ln w="254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21615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.BLG  –  Windows PerfMon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1560" y="149047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CB8"/>
                </a:solidFill>
              </a:rPr>
              <a:t>›  CPU, Memory, Disk I/O, Network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51560" y="171907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CB8"/>
                </a:solidFill>
              </a:rPr>
              <a:t>›  Process handles &amp; working set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51560" y="194767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CB8"/>
                </a:solidFill>
              </a:rPr>
              <a:t>›  Converted via relog → parsed automatically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2331720"/>
            <a:ext cx="4023360" cy="1051560"/>
          </a:xfrm>
          <a:prstGeom prst="rect">
            <a:avLst/>
          </a:prstGeom>
          <a:solidFill>
            <a:srgbClr val="0D2137"/>
          </a:solidFill>
          <a:ln w="254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060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240487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IIS Logs  –  W3C Format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51560" y="267919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CB8"/>
                </a:solidFill>
              </a:rPr>
              <a:t>›  Request latency &amp; HTTP status codes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1051560" y="290779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CB8"/>
                </a:solidFill>
              </a:rPr>
              <a:t>›  URI stems, bytes sent, time-taken field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051560" y="313639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CB8"/>
                </a:solidFill>
              </a:rPr>
              <a:t>›  Parses variable #Fields header automatically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65760" y="3520440"/>
            <a:ext cx="4023360" cy="1051560"/>
          </a:xfrm>
          <a:prstGeom prst="rect">
            <a:avLst/>
          </a:prstGeom>
          <a:solidFill>
            <a:srgbClr val="0D2137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79476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560" y="359359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LoadRunner  –  Results &amp; Vlogs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051560" y="386791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CB8"/>
                </a:solidFill>
              </a:rPr>
              <a:t>›  Transaction p50/p90/p95 response times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1051560" y="409651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CB8"/>
                </a:solidFill>
              </a:rPr>
              <a:t>›  Vuser error logs &amp; SLA breach events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1051560" y="432511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CB8"/>
                </a:solidFill>
              </a:rPr>
              <a:t>›  Results CSV + vuser*.log both supported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663440" y="1143000"/>
            <a:ext cx="4114800" cy="33832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63440" y="1143000"/>
            <a:ext cx="41148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754880" y="1234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</a:rPr>
              <a:t>Phase 2 — Normalise &amp; Store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4754880" y="1764792"/>
            <a:ext cx="201168" cy="201168"/>
          </a:xfrm>
          <a:prstGeom prst="oval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047488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Unified Schema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047488" y="19476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CB8"/>
                </a:solidFill>
              </a:rPr>
              <a:t>All 3 sources → {timestamp, source, metric, value, severity}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4754880" y="2313432"/>
            <a:ext cx="201168" cy="201168"/>
          </a:xfrm>
          <a:prstGeom prst="oval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047488" y="2240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UTC Timestamp Align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5047488" y="24963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CB8"/>
                </a:solidFill>
              </a:rPr>
              <a:t>Eliminates timezone drift across log sources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4754880" y="2862072"/>
            <a:ext cx="201168" cy="201168"/>
          </a:xfrm>
          <a:prstGeom prst="oval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047488" y="2788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 Phase Tagging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5047488" y="30449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CB8"/>
                </a:solidFill>
              </a:rPr>
              <a:t>Labels every row: ramp_up | steady_state | ramp_down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4754880" y="3410712"/>
            <a:ext cx="201168" cy="201168"/>
          </a:xfrm>
          <a:prstGeom prst="oval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5047488" y="3337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DuckDB Storage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5047488" y="35935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CB8"/>
                </a:solidFill>
              </a:rPr>
              <a:t>Fast SQL window queries for anomaly detection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4754880" y="3959352"/>
            <a:ext cx="201168" cy="201168"/>
          </a:xfrm>
          <a:prstGeom prst="oval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5047488" y="3886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Run ID Hashing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5047488" y="41422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CB8"/>
                </a:solidFill>
              </a:rPr>
              <a:t>Multiple runs coexist — compare across test cycles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3774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 Specialist AI Agents Run in Parallel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1572768" cy="3429000"/>
          </a:xfrm>
          <a:prstGeom prst="rect">
            <a:avLst/>
          </a:prstGeom>
          <a:solidFill>
            <a:srgbClr val="0D2137"/>
          </a:solidFill>
          <a:ln w="2540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188720"/>
            <a:ext cx="1572768" cy="6400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71600"/>
            <a:ext cx="566928" cy="566928"/>
          </a:xfrm>
          <a:prstGeom prst="oval">
            <a:avLst/>
          </a:prstGeom>
          <a:solidFill>
            <a:srgbClr val="EF5350">
              <a:alpha val="80000"/>
            </a:srgbClr>
          </a:solidFill>
          <a:ln w="12700">
            <a:solidFill>
              <a:srgbClr val="EF535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26464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" y="2057400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Anomaly Agent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56032" y="2542032"/>
            <a:ext cx="142646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Z-score, IQR &amp; Isolation Forest on every metric. Flags statistical outliers vs baseline.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74320" y="4251960"/>
            <a:ext cx="1389888" cy="256032"/>
          </a:xfrm>
          <a:prstGeom prst="rect">
            <a:avLst/>
          </a:prstGeom>
          <a:solidFill>
            <a:srgbClr val="EF5350">
              <a:alpha val="40000"/>
            </a:srgbClr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425196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scikit-learn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956816" y="1188720"/>
            <a:ext cx="1572768" cy="3429000"/>
          </a:xfrm>
          <a:prstGeom prst="rect">
            <a:avLst/>
          </a:prstGeom>
          <a:solidFill>
            <a:srgbClr val="0D2137"/>
          </a:solidFill>
          <a:ln w="254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956816" y="1188720"/>
            <a:ext cx="1572768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59736" y="1371600"/>
            <a:ext cx="566928" cy="566928"/>
          </a:xfrm>
          <a:prstGeom prst="oval">
            <a:avLst/>
          </a:prstGeom>
          <a:solidFill>
            <a:srgbClr val="1E88E5">
              <a:alpha val="80000"/>
            </a:srgbClr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426464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002536" y="2057400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Trend Agent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029968" y="2542032"/>
            <a:ext cx="142646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Detects monotonic degradation: memory leaks, handle creep, response time drift.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048256" y="4251960"/>
            <a:ext cx="1389888" cy="256032"/>
          </a:xfrm>
          <a:prstGeom prst="rect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048256" y="425196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SciPy / Linear Regression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3730752" y="1188720"/>
            <a:ext cx="1572768" cy="3429000"/>
          </a:xfrm>
          <a:prstGeom prst="rect">
            <a:avLst/>
          </a:prstGeom>
          <a:solidFill>
            <a:srgbClr val="0D2137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730752" y="1188720"/>
            <a:ext cx="1572768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233672" y="1371600"/>
            <a:ext cx="566928" cy="566928"/>
          </a:xfrm>
          <a:prstGeom prst="oval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1426464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776472" y="2057400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Threshold Agent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3803904" y="2542032"/>
            <a:ext cx="142646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SLA breach detection: p95 latency, error rate &gt;1%, TPS drop. Maps to business KPI.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3822192" y="4251960"/>
            <a:ext cx="1389888" cy="256032"/>
          </a:xfrm>
          <a:prstGeom prst="rect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822192" y="425196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Rule Engine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5504688" y="1188720"/>
            <a:ext cx="1572768" cy="3429000"/>
          </a:xfrm>
          <a:prstGeom prst="rect">
            <a:avLst/>
          </a:prstGeom>
          <a:solidFill>
            <a:srgbClr val="0D2137"/>
          </a:solidFill>
          <a:ln w="25400">
            <a:solidFill>
              <a:srgbClr val="AB47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504688" y="1188720"/>
            <a:ext cx="1572768" cy="64008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007608" y="1371600"/>
            <a:ext cx="566928" cy="566928"/>
          </a:xfrm>
          <a:prstGeom prst="oval">
            <a:avLst/>
          </a:prstGeom>
          <a:solidFill>
            <a:srgbClr val="AB47BC">
              <a:alpha val="80000"/>
            </a:srgbClr>
          </a:solidFill>
          <a:ln w="12700">
            <a:solidFill>
              <a:srgbClr val="AB47BC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1426464"/>
            <a:ext cx="457200" cy="4572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550408" y="2057400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Pattern Agent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5577840" y="2542032"/>
            <a:ext cx="142646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Finds OOM events, stack traces, timeout clusters, 5xx spikes in raw log text.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5596128" y="4251960"/>
            <a:ext cx="1389888" cy="256032"/>
          </a:xfrm>
          <a:prstGeom prst="rect">
            <a:avLst/>
          </a:prstGeom>
          <a:solidFill>
            <a:srgbClr val="AB47BC">
              <a:alpha val="40000"/>
            </a:srgbClr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596128" y="425196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Regex + GPT-4o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>
            <a:off x="7278624" y="1188720"/>
            <a:ext cx="1572768" cy="3429000"/>
          </a:xfrm>
          <a:prstGeom prst="rect">
            <a:avLst/>
          </a:prstGeom>
          <a:solidFill>
            <a:srgbClr val="0D2137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278624" y="1188720"/>
            <a:ext cx="1572768" cy="64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7781544" y="1371600"/>
            <a:ext cx="566928" cy="566928"/>
          </a:xfrm>
          <a:prstGeom prst="oval">
            <a:avLst/>
          </a:prstGeom>
          <a:solidFill>
            <a:srgbClr val="FFB300">
              <a:alpha val="80000"/>
            </a:srgbClr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6408" y="1426464"/>
            <a:ext cx="457200" cy="45720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324344" y="2057400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Causal Agent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7351776" y="2542032"/>
            <a:ext cx="142646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Synthesises all agent findings into a cause-effect chain with ranked hypotheses.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7370064" y="4251960"/>
            <a:ext cx="1389888" cy="256032"/>
          </a:xfrm>
          <a:prstGeom prst="rect">
            <a:avLst/>
          </a:prstGeom>
          <a:solidFill>
            <a:srgbClr val="FFB300">
              <a:alpha val="4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7370064" y="425196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GPT-4o Reasoning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37744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From Signal Soup to Ranked Root Causes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3566160"/>
          </a:xfrm>
          <a:prstGeom prst="rect">
            <a:avLst/>
          </a:prstGeom>
          <a:solidFill>
            <a:srgbClr val="0D2137"/>
          </a:solidFill>
          <a:ln w="12700">
            <a:solidFill>
              <a:srgbClr val="AB47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984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CD4"/>
                </a:solidFill>
              </a:rPr>
              <a:t>How It Works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746504"/>
            <a:ext cx="274320" cy="27432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46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7190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Timeline Alignment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99339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CB8"/>
                </a:solidFill>
              </a:rPr>
              <a:t>Merges anomaly, trend, threshold &amp; pattern events onto one chronological timeline.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459736"/>
            <a:ext cx="274320" cy="27432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59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4323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Leading Indicator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70662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CB8"/>
                </a:solidFill>
              </a:rPr>
              <a:t>Identifies which metric degraded FIRST — before user-visible impact began.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172968"/>
            <a:ext cx="274320" cy="27432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172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31455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Causal Chain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41985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CB8"/>
                </a:solidFill>
              </a:rPr>
              <a:t>GPT-4o reads all agent findings together and builds a cause → effect chain.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886200"/>
            <a:ext cx="274320" cy="27432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38587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Ranked Hypotheses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413308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CB8"/>
                </a:solidFill>
              </a:rPr>
              <a:t>Up to 5 root cause hypotheses ranked by evidence strength.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1188720"/>
            <a:ext cx="4114800" cy="3566160"/>
          </a:xfrm>
          <a:prstGeom prst="rect">
            <a:avLst/>
          </a:prstGeom>
          <a:solidFill>
            <a:srgbClr val="0D2137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00600" y="12984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C9A7"/>
                </a:solidFill>
              </a:rPr>
              <a:t>Confidence Scoring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800600" y="1737360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B9CB8"/>
                </a:solidFill>
              </a:rPr>
              <a:t>Each finding is scored by how many independent log sources corroborate it: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0600" y="2331720"/>
            <a:ext cx="914400" cy="320040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331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HIGH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06440" y="2350008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B9CB8"/>
                </a:solidFill>
              </a:rPr>
              <a:t>.BLG + IIS + LoadRunner all point to same issue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081528"/>
            <a:ext cx="914400" cy="320040"/>
          </a:xfrm>
          <a:prstGeom prst="rect">
            <a:avLst/>
          </a:prstGeom>
          <a:solidFill>
            <a:srgbClr val="FFB300">
              <a:alpha val="85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0815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MEDIUM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06440" y="3099816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B9CB8"/>
                </a:solidFill>
              </a:rPr>
              <a:t>2 of 3 sources corroborate the finding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3831336"/>
            <a:ext cx="914400" cy="320040"/>
          </a:xfrm>
          <a:prstGeom prst="rect">
            <a:avLst/>
          </a:prstGeom>
          <a:solidFill>
            <a:srgbClr val="EF5350">
              <a:alpha val="85000"/>
            </a:srgbClr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83133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LOW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06440" y="3849624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B9CB8"/>
                </a:solidFill>
              </a:rPr>
              <a:t>Single source signal — needs further validation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4251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B9CB8"/>
                </a:solidFill>
              </a:rPr>
              <a:t>This mirrors how senior engineers think — a finding only seen in one log is suspicious; one corroborated by all three is definitive.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377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Auto-Generated Report — HTML + PDF, in Seconds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1600200"/>
          </a:xfrm>
          <a:prstGeom prst="rect">
            <a:avLst/>
          </a:prstGeom>
          <a:solidFill>
            <a:srgbClr val="0D2137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64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417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Executive Summary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198424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B9CB8"/>
                </a:solidFill>
              </a:rPr>
              <a:t>Pass/Fail verdict, SLA breach count, top 3 findings, risk rating and recommended immediate actions.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09160" y="1234440"/>
            <a:ext cx="4114800" cy="1600200"/>
          </a:xfrm>
          <a:prstGeom prst="rect">
            <a:avLst/>
          </a:prstGeom>
          <a:solidFill>
            <a:srgbClr val="0D2137"/>
          </a:solidFill>
          <a:ln w="254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234440"/>
            <a:ext cx="4114800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17320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1417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Metric Deep Dive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46320" y="198424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B9CB8"/>
                </a:solidFill>
              </a:rPr>
              <a:t>Time-series breakdowns per source with p50/p90/p95/p99 percentile tables and threshold breach timelines.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65760" y="3154680"/>
            <a:ext cx="4114800" cy="1600200"/>
          </a:xfrm>
          <a:prstGeom prst="rect">
            <a:avLst/>
          </a:prstGeom>
          <a:solidFill>
            <a:srgbClr val="0D2137"/>
          </a:solidFill>
          <a:ln w="25400">
            <a:solidFill>
              <a:srgbClr val="AB47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3154680"/>
            <a:ext cx="4114800" cy="64008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337560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3337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RCA Findings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02920" y="390448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B9CB8"/>
                </a:solidFill>
              </a:rPr>
              <a:t>Ranked root causes with evidence citations, confidence scores, cross-log correlation proof and LLM narrative.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09160" y="3154680"/>
            <a:ext cx="4114800" cy="1600200"/>
          </a:xfrm>
          <a:prstGeom prst="rect">
            <a:avLst/>
          </a:prstGeom>
          <a:solidFill>
            <a:srgbClr val="0D2137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09160" y="3154680"/>
            <a:ext cx="41148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337560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94960" y="3337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Recommendations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846320" y="390448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B9CB8"/>
                </a:solidFill>
              </a:rPr>
              <a:t>Tuning actions per finding, re-test acceptance criteria and open risks flagged for the next sprint.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377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BUSINESS IMPACT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Before vs. After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3931920" cy="3520440"/>
          </a:xfrm>
          <a:prstGeom prst="rect">
            <a:avLst/>
          </a:prstGeom>
          <a:solidFill>
            <a:srgbClr val="1A0A0A"/>
          </a:solidFill>
          <a:ln w="25400">
            <a:solidFill>
              <a:srgbClr val="EF53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3931920" cy="41148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BEFORE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8A80"/>
                </a:solidFill>
              </a:rPr>
              <a:t>✗  2–4 hours of manual RCA per test run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2494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8A80"/>
                </a:solidFill>
              </a:rPr>
              <a:t>✗  3 separate tools open simultaneously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614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8A80"/>
                </a:solidFill>
              </a:rPr>
              <a:t>✗  Timestamps manually aligned in spreadsheets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735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8A80"/>
                </a:solidFill>
              </a:rPr>
              <a:t>✗  Root cause often missed or guessed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8561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8A80"/>
                </a:solidFill>
              </a:rPr>
              <a:t>✗  Findings written up from memory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92040" y="1188720"/>
            <a:ext cx="3931920" cy="3520440"/>
          </a:xfrm>
          <a:prstGeom prst="rect">
            <a:avLst/>
          </a:prstGeom>
          <a:solidFill>
            <a:srgbClr val="001A10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188720"/>
            <a:ext cx="3931920" cy="411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AFTER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9F0AE"/>
                </a:solidFill>
              </a:rPr>
              <a:t>✓  &lt; 30 seconds end-to-end pipeline run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2494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9F0AE"/>
                </a:solidFill>
              </a:rPr>
              <a:t>✓  Drop files → full report automatically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7614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9F0AE"/>
                </a:solidFill>
              </a:rPr>
              <a:t>✓  All sources unified on one timeline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32735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9F0AE"/>
                </a:solidFill>
              </a:rPr>
              <a:t>✓  Ranked root causes with confidence scores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378561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9F0AE"/>
                </a:solidFill>
              </a:rPr>
              <a:t>✓  PDF + HTML report ready to share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29100" y="2286000"/>
            <a:ext cx="685800" cy="685800"/>
          </a:xfrm>
          <a:prstGeom prst="oval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2910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3774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UNDER THE HOOD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Built on Battle-Tested, Enterprise-Ready Technology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1572768" cy="3611880"/>
          </a:xfrm>
          <a:prstGeom prst="rect">
            <a:avLst/>
          </a:prstGeom>
          <a:solidFill>
            <a:srgbClr val="0D2137"/>
          </a:solidFill>
          <a:ln w="254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88720"/>
            <a:ext cx="1572768" cy="347472"/>
          </a:xfrm>
          <a:prstGeom prst="rect">
            <a:avLst/>
          </a:prstGeom>
          <a:solidFill>
            <a:srgbClr val="1E88E5">
              <a:alpha val="85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Ingestion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" y="1664208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›  Python watchdog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01752" y="2322576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›  relog / perfmon2csv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01752" y="2980944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›  W3C IIS Parser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01752" y="3639312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›  LR result + vuser log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93392" y="1188720"/>
            <a:ext cx="1572768" cy="3611880"/>
          </a:xfrm>
          <a:prstGeom prst="rect">
            <a:avLst/>
          </a:prstGeom>
          <a:solidFill>
            <a:srgbClr val="0D2137"/>
          </a:solidFill>
          <a:ln w="254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93392" y="1188720"/>
            <a:ext cx="1572768" cy="347472"/>
          </a:xfrm>
          <a:prstGeom prst="rect">
            <a:avLst/>
          </a:prstGeom>
          <a:solidFill>
            <a:srgbClr val="00BCD4">
              <a:alpha val="85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39112" y="118872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Layer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66544" y="1664208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›  pandas / numpy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66544" y="2322576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›  DuckDB (SQL analytics)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66544" y="2980944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›  Unified schema ORM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639312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›  Run-ID versioning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58184" y="1188720"/>
            <a:ext cx="1572768" cy="3611880"/>
          </a:xfrm>
          <a:prstGeom prst="rect">
            <a:avLst/>
          </a:prstGeom>
          <a:solidFill>
            <a:srgbClr val="0D2137"/>
          </a:solidFill>
          <a:ln w="25400">
            <a:solidFill>
              <a:srgbClr val="AB47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58184" y="1188720"/>
            <a:ext cx="1572768" cy="347472"/>
          </a:xfrm>
          <a:prstGeom prst="rect">
            <a:avLst/>
          </a:prstGeom>
          <a:solidFill>
            <a:srgbClr val="AB47BC">
              <a:alpha val="85000"/>
            </a:srgbClr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03904" y="118872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/ ML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31336" y="1664208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›  scikit-learn (IsolationForest)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31336" y="2322576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›  SciPy (linear regression)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31336" y="2980944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›  GPT-4o (pattern + RCA)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831336" y="3639312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›  Rule engine (SLA)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22976" y="1188720"/>
            <a:ext cx="1572768" cy="3611880"/>
          </a:xfrm>
          <a:prstGeom prst="rect">
            <a:avLst/>
          </a:prstGeom>
          <a:solidFill>
            <a:srgbClr val="0D2137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22976" y="1188720"/>
            <a:ext cx="1572768" cy="347472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68696" y="118872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Reporting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96128" y="1664208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›  Jinja2 HTML templates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596128" y="2322576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›  WeasyPrint (PDF)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596128" y="2980944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›  Rich (terminal output)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596128" y="3639312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›  JSON / DuckDB artefacts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287768" y="1188720"/>
            <a:ext cx="1572768" cy="3611880"/>
          </a:xfrm>
          <a:prstGeom prst="rect">
            <a:avLst/>
          </a:prstGeom>
          <a:solidFill>
            <a:srgbClr val="0D2137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87768" y="1188720"/>
            <a:ext cx="1572768" cy="347472"/>
          </a:xfrm>
          <a:prstGeom prst="rect">
            <a:avLst/>
          </a:prstGeom>
          <a:solidFill>
            <a:srgbClr val="FFB300">
              <a:alpha val="85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33488" y="118872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Ops &amp; DevEx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60920" y="1664208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›  Typer CLI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360920" y="2322576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›  python-dotenv config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360920" y="2980944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›  config.yaml / overrides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360920" y="3639312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›  VSCode launch configs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oval">
            <a:avLst/>
          </a:prstGeom>
          <a:solidFill>
            <a:srgbClr val="1E88E5">
              <a:alpha val="1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oval">
            <a:avLst/>
          </a:prstGeom>
          <a:solidFill>
            <a:srgbClr val="00C9A7">
              <a:alpha val="10000"/>
            </a:srgbClr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4572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630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Ready to Cut RCA Time by 40%?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14400" y="21488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9CB8"/>
                </a:solidFill>
              </a:rPr>
              <a:t>The pipeline is built, tested, and running. Here's how we move forward.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2788920"/>
            <a:ext cx="1965960" cy="1920240"/>
          </a:xfrm>
          <a:prstGeom prst="rect">
            <a:avLst/>
          </a:prstGeom>
          <a:solidFill>
            <a:srgbClr val="0D2137"/>
          </a:solidFill>
          <a:ln w="254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78992" y="2889504"/>
            <a:ext cx="530352" cy="43891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78992" y="2889504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341985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Pilot Run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3822192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Drop your real .BLG, IIS &amp; LR files into the pipeline. Get a live report in &lt; 30 seconds.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514600" y="2788920"/>
            <a:ext cx="1965960" cy="1920240"/>
          </a:xfrm>
          <a:prstGeom prst="rect">
            <a:avLst/>
          </a:prstGeom>
          <a:solidFill>
            <a:srgbClr val="0D2137"/>
          </a:solidFill>
          <a:ln w="254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27832" y="2889504"/>
            <a:ext cx="530352" cy="43891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27832" y="2889504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606040" y="341985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Tune SLAs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606040" y="3822192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Update config.yaml with your actual SLA thresholds. No code changes needed.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63440" y="2788920"/>
            <a:ext cx="1965960" cy="1920240"/>
          </a:xfrm>
          <a:prstGeom prst="rect">
            <a:avLst/>
          </a:prstGeom>
          <a:solidFill>
            <a:srgbClr val="0D2137"/>
          </a:solidFill>
          <a:ln w="254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76672" y="2889504"/>
            <a:ext cx="530352" cy="43891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76672" y="2889504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754880" y="341985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Add OpenAI Key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54880" y="3822192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Unlock GPT-4o semantic analysis for richer pattern detection and full causal RCA.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812280" y="2788920"/>
            <a:ext cx="1965960" cy="1920240"/>
          </a:xfrm>
          <a:prstGeom prst="rect">
            <a:avLst/>
          </a:prstGeom>
          <a:solidFill>
            <a:srgbClr val="0D2137"/>
          </a:solidFill>
          <a:ln w="254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525512" y="2889504"/>
            <a:ext cx="530352" cy="43891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25512" y="2889504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903720" y="341985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Integrate &amp; Scale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903720" y="3822192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B9CB8"/>
                </a:solidFill>
              </a:rPr>
              <a:t>Add to your CI/CD pipeline. Trigger automatically at the end of every load test run.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PT Log Mining – Client Pitch</dc:title>
  <dc:subject>PptxGenJS Presentation</dc:subject>
  <dc:creator>PptxGenJS</dc:creator>
  <cp:lastModifiedBy>PptxGenJS</cp:lastModifiedBy>
  <cp:revision>1</cp:revision>
  <dcterms:created xsi:type="dcterms:W3CDTF">2026-06-19T13:18:47Z</dcterms:created>
  <dcterms:modified xsi:type="dcterms:W3CDTF">2026-06-19T13:18:47Z</dcterms:modified>
</cp:coreProperties>
</file>