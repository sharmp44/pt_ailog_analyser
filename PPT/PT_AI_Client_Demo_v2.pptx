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72"/>
    <p:restoredTop sz="94610"/>
  </p:normalViewPr>
  <p:slideViewPr>
    <p:cSldViewPr snapToGrid="0" snapToObjects="1">
      <p:cViewPr varScale="1">
        <p:scale>
          <a:sx n="209" d="100"/>
          <a:sy n="209" d="100"/>
        </p:scale>
        <p:origin x="184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841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client. Today we walk through the PT AI pipeline with real findings from a live test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client how long their team spends on RCA today. This sets the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as a force-multiplier — not replacing engineers, removing the drudgery.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watch-mode — just drop logs and get a report. No manual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real client run. Every finding is linked to actual log timestamps. Offer to walk through the HTML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chain. Point out that this was generated automatically — no analyst wrote this. The AI connected BLG memory trend to SQL deadlocks to LR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on the 40% RCA reduction. Ask the client their current RCA cost per test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strong — the CTA is more powerful now because the client just saw the pipeline catch real failures in their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1B7F9E">
              <a:alpha val="22000"/>
            </a:srgbClr>
          </a:solidFill>
          <a:ln w="12700">
            <a:solidFill>
              <a:srgbClr val="1B7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2286000"/>
            <a:ext cx="2743200" cy="2743200"/>
          </a:xfrm>
          <a:prstGeom prst="ellipse">
            <a:avLst/>
          </a:prstGeom>
          <a:solidFill>
            <a:srgbClr val="5BC8E8">
              <a:alpha val="15000"/>
            </a:srgbClr>
          </a:solidFill>
          <a:ln w="12700">
            <a:solidFill>
              <a:srgbClr val="5B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BC8E8"/>
                </a:solidFill>
              </a:rPr>
              <a:t>CLIENT DEMO  · 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PT AI Log </a:t>
            </a:r>
            <a:r>
              <a:rPr lang="en-US" sz="5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A8C8D8"/>
                </a:solidFill>
              </a:rPr>
              <a:t>Intelligent Root Cause Analysis for Performance Testing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2011680" cy="45720"/>
          </a:xfrm>
          <a:prstGeom prst="rect">
            <a:avLst/>
          </a:prstGeom>
          <a:solidFill>
            <a:srgbClr val="5BC8E8"/>
          </a:solidFill>
          <a:ln w="12700">
            <a:solidFill>
              <a:srgbClr val="5B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3566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8D8"/>
                </a:solidFill>
              </a:rPr>
              <a:t>Presented by  Pankaj Kumar  ·  Performance Engineering</a:t>
            </a:r>
            <a:endParaRPr lang="en-US" sz="1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28016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A2342"/>
                </a:solidFill>
              </a:rPr>
              <a:t>Manual RCA from performance logs is slow, inconsistent, and expensive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743200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</a:rPr>
              <a:t>Hours of Manual Work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2880360"/>
            <a:ext cx="24871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A6B"/>
                </a:solidFill>
              </a:rPr>
              <a:t>Engineers sift through thousands of log lines across BLG, IIS, and LoadRunner files — often 4–8 hours per test run.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1600200"/>
            <a:ext cx="2743200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7830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83280" y="2377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</a:rPr>
              <a:t>Missed Root Causes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383280" y="2880360"/>
            <a:ext cx="24871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A6B"/>
                </a:solidFill>
              </a:rPr>
              <a:t>Siloed tool views mean correlated failures go undetected. A backend memory leak causing SQL deadlocks is easy to miss.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26480" y="1600200"/>
            <a:ext cx="2743200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78308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63640" y="2377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</a:rPr>
              <a:t>Inconsistent Reporting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263640" y="2880360"/>
            <a:ext cx="24871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A6B"/>
                </a:solidFill>
              </a:rPr>
              <a:t>Each engineer produces a different format. Findings are hard to compare across runs or present to clients.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8C8D8"/>
                </a:solidFill>
              </a:rPr>
              <a:t>End-to-end AI pipeline — ingests, correlates and explains performance failures automatically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32D4A"/>
          </a:solidFill>
          <a:ln w="12700">
            <a:solidFill>
              <a:srgbClr val="1B7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BC8E8"/>
                </a:solidFill>
              </a:rPr>
              <a:t>60%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C8D8"/>
                </a:solidFill>
              </a:rPr>
              <a:t>Faster RCA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24328" y="15544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32D4A"/>
          </a:solidFill>
          <a:ln w="12700">
            <a:solidFill>
              <a:srgbClr val="1B7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24328" y="16002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BC8E8"/>
                </a:solidFill>
              </a:rPr>
              <a:t>5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24328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C8D8"/>
                </a:solidFill>
              </a:rPr>
              <a:t>AI Agents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73752" y="15544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32D4A"/>
          </a:solidFill>
          <a:ln w="12700">
            <a:solidFill>
              <a:srgbClr val="1B7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73752" y="16002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BC8E8"/>
                </a:solidFill>
              </a:rPr>
              <a:t>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873752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C8D8"/>
                </a:solidFill>
              </a:rPr>
              <a:t>Log Sources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32320" y="15544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32D4A"/>
          </a:solidFill>
          <a:ln w="12700">
            <a:solidFill>
              <a:srgbClr val="1B7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32320" y="16002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BC8E8"/>
                </a:solidFill>
              </a:rPr>
              <a:t>100%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13232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C8D8"/>
                </a:solidFill>
              </a:rPr>
              <a:t>Automated Report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8412480" cy="1554480"/>
          </a:xfrm>
          <a:prstGeom prst="roundRect">
            <a:avLst>
              <a:gd name="adj" fmla="val 5882"/>
            </a:avLst>
          </a:prstGeom>
          <a:solidFill>
            <a:srgbClr val="132D4A"/>
          </a:solidFill>
          <a:ln w="12700">
            <a:solidFill>
              <a:srgbClr val="13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2004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C8E8"/>
                </a:solidFill>
              </a:rPr>
              <a:t>PT AI Log Mining</a:t>
            </a:r>
            <a:r>
              <a:rPr lang="en-US" sz="1400" dirty="0">
                <a:solidFill>
                  <a:srgbClr val="E8F4F8"/>
                </a:solidFill>
              </a:rPr>
              <a:t> automatically ingests Windows Performance Monitor (.BLG), IIS web server logs, and LoadRunner results. </a:t>
            </a:r>
            <a:r>
              <a:rPr lang="en-US" sz="1400" b="1" dirty="0">
                <a:solidFill>
                  <a:srgbClr val="5BC8E8"/>
                </a:solidFill>
              </a:rPr>
              <a:t>Five specialized AI agents</a:t>
            </a:r>
            <a:r>
              <a:rPr lang="en-US" sz="1400" dirty="0">
                <a:solidFill>
                  <a:srgbClr val="E8F4F8"/>
                </a:solidFill>
              </a:rPr>
              <a:t> detect anomalies, trends, threshold breaches, and patterns — then a causal reasoning agent produces a plain-English Root Cause Analysis with a PDF report in seconds.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463040" cy="3611880"/>
          </a:xfrm>
          <a:prstGeom prst="roundRect">
            <a:avLst>
              <a:gd name="adj" fmla="val 7500"/>
            </a:avLst>
          </a:prstGeom>
          <a:solidFill>
            <a:srgbClr val="0A2342"/>
          </a:solidFill>
          <a:ln w="19050">
            <a:solidFill>
              <a:srgbClr val="1B7F9E"/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04088" y="1188720"/>
            <a:ext cx="694944" cy="694944"/>
          </a:xfrm>
          <a:prstGeom prst="ellipse">
            <a:avLst/>
          </a:prstGeom>
          <a:solidFill>
            <a:srgbClr val="1B7F9E"/>
          </a:solidFill>
          <a:ln w="12700">
            <a:solidFill>
              <a:srgbClr val="1B7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61872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5BC8E8"/>
                </a:solidFill>
              </a:rPr>
              <a:t>INGEST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2450592"/>
            <a:ext cx="1097280" cy="22860"/>
          </a:xfrm>
          <a:prstGeom prst="rect">
            <a:avLst/>
          </a:prstGeom>
          <a:solidFill>
            <a:srgbClr val="1B7F9E">
              <a:alpha val="50000"/>
            </a:srgbClr>
          </a:solidFill>
          <a:ln w="12700">
            <a:solidFill>
              <a:srgbClr val="1B7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11480" y="2514600"/>
            <a:ext cx="1280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F4F8"/>
                </a:solidFill>
              </a:rPr>
              <a:t>BLG · IIS · LoadRunner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8F4F8"/>
                </a:solidFill>
              </a:rPr>
              <a:t>File watcher (auto)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1819656" y="2788920"/>
            <a:ext cx="274320" cy="0"/>
          </a:xfrm>
          <a:prstGeom prst="line">
            <a:avLst/>
          </a:prstGeom>
          <a:noFill/>
          <a:ln w="31750">
            <a:solidFill>
              <a:srgbClr val="5B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020824" y="2743200"/>
            <a:ext cx="109728" cy="91440"/>
          </a:xfrm>
          <a:prstGeom prst="rect">
            <a:avLst/>
          </a:prstGeom>
          <a:solidFill>
            <a:srgbClr val="5BC8E8"/>
          </a:solidFill>
          <a:ln w="12700">
            <a:solidFill>
              <a:srgbClr val="5B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130552" y="1005840"/>
            <a:ext cx="1463040" cy="3611880"/>
          </a:xfrm>
          <a:prstGeom prst="roundRect">
            <a:avLst>
              <a:gd name="adj" fmla="val 7500"/>
            </a:avLst>
          </a:prstGeom>
          <a:solidFill>
            <a:srgbClr val="0A2342"/>
          </a:solidFill>
          <a:ln w="19050">
            <a:solidFill>
              <a:srgbClr val="1B7F9E"/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514600" y="1188720"/>
            <a:ext cx="694944" cy="694944"/>
          </a:xfrm>
          <a:prstGeom prst="ellipse">
            <a:avLst/>
          </a:prstGeom>
          <a:solidFill>
            <a:srgbClr val="1B7F9E"/>
          </a:solidFill>
          <a:ln w="12700">
            <a:solidFill>
              <a:srgbClr val="1B7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7752" y="1261872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176272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5BC8E8"/>
                </a:solidFill>
              </a:rPr>
              <a:t>PARSE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2313432" y="2450592"/>
            <a:ext cx="1097280" cy="22860"/>
          </a:xfrm>
          <a:prstGeom prst="rect">
            <a:avLst/>
          </a:prstGeom>
          <a:solidFill>
            <a:srgbClr val="1B7F9E">
              <a:alpha val="50000"/>
            </a:srgbClr>
          </a:solidFill>
          <a:ln w="12700">
            <a:solidFill>
              <a:srgbClr val="1B7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2221992" y="2514600"/>
            <a:ext cx="1280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F4F8"/>
                </a:solidFill>
              </a:rPr>
              <a:t>Normalise · Tag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8F4F8"/>
                </a:solidFill>
              </a:rPr>
              <a:t>Store → DuckDB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3630168" y="2788920"/>
            <a:ext cx="274320" cy="0"/>
          </a:xfrm>
          <a:prstGeom prst="line">
            <a:avLst/>
          </a:prstGeom>
          <a:noFill/>
          <a:ln w="31750">
            <a:solidFill>
              <a:srgbClr val="5B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3831336" y="2743200"/>
            <a:ext cx="109728" cy="91440"/>
          </a:xfrm>
          <a:prstGeom prst="rect">
            <a:avLst/>
          </a:prstGeom>
          <a:solidFill>
            <a:srgbClr val="5BC8E8"/>
          </a:solidFill>
          <a:ln w="12700">
            <a:solidFill>
              <a:srgbClr val="5B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941064" y="1005840"/>
            <a:ext cx="1463040" cy="3611880"/>
          </a:xfrm>
          <a:prstGeom prst="roundRect">
            <a:avLst>
              <a:gd name="adj" fmla="val 7500"/>
            </a:avLst>
          </a:prstGeom>
          <a:solidFill>
            <a:srgbClr val="0A2342"/>
          </a:solidFill>
          <a:ln w="19050">
            <a:solidFill>
              <a:srgbClr val="1B7F9E"/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4325112" y="1188720"/>
            <a:ext cx="694944" cy="694944"/>
          </a:xfrm>
          <a:prstGeom prst="ellipse">
            <a:avLst/>
          </a:prstGeom>
          <a:solidFill>
            <a:srgbClr val="1B7F9E"/>
          </a:solidFill>
          <a:ln w="12700">
            <a:solidFill>
              <a:srgbClr val="1B7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8264" y="1261872"/>
            <a:ext cx="548640" cy="5486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986784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5BC8E8"/>
                </a:solidFill>
              </a:rPr>
              <a:t>AI AGENTS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123944" y="2450592"/>
            <a:ext cx="1097280" cy="22860"/>
          </a:xfrm>
          <a:prstGeom prst="rect">
            <a:avLst/>
          </a:prstGeom>
          <a:solidFill>
            <a:srgbClr val="1B7F9E">
              <a:alpha val="50000"/>
            </a:srgbClr>
          </a:solidFill>
          <a:ln w="12700">
            <a:solidFill>
              <a:srgbClr val="1B7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4032504" y="2514600"/>
            <a:ext cx="1280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F4F8"/>
                </a:solidFill>
              </a:rPr>
              <a:t>Anomaly · Trend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8F4F8"/>
                </a:solidFill>
              </a:rPr>
              <a:t>Threshold · Pattern · Causal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5440680" y="2788920"/>
            <a:ext cx="274320" cy="0"/>
          </a:xfrm>
          <a:prstGeom prst="line">
            <a:avLst/>
          </a:prstGeom>
          <a:noFill/>
          <a:ln w="31750">
            <a:solidFill>
              <a:srgbClr val="5B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5641848" y="2743200"/>
            <a:ext cx="109728" cy="91440"/>
          </a:xfrm>
          <a:prstGeom prst="rect">
            <a:avLst/>
          </a:prstGeom>
          <a:solidFill>
            <a:srgbClr val="5BC8E8"/>
          </a:solidFill>
          <a:ln w="12700">
            <a:solidFill>
              <a:srgbClr val="5B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5751576" y="1005840"/>
            <a:ext cx="1463040" cy="3611880"/>
          </a:xfrm>
          <a:prstGeom prst="roundRect">
            <a:avLst>
              <a:gd name="adj" fmla="val 7500"/>
            </a:avLst>
          </a:prstGeom>
          <a:solidFill>
            <a:srgbClr val="0A2342"/>
          </a:solidFill>
          <a:ln w="19050">
            <a:solidFill>
              <a:srgbClr val="1B7F9E"/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6135624" y="1188720"/>
            <a:ext cx="694944" cy="694944"/>
          </a:xfrm>
          <a:prstGeom prst="ellipse">
            <a:avLst/>
          </a:prstGeom>
          <a:solidFill>
            <a:srgbClr val="1B7F9E"/>
          </a:solidFill>
          <a:ln w="12700">
            <a:solidFill>
              <a:srgbClr val="1B7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8776" y="1261872"/>
            <a:ext cx="548640" cy="5486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797296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5BC8E8"/>
                </a:solidFill>
              </a:rPr>
              <a:t>CORRELATE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5934456" y="2450592"/>
            <a:ext cx="1097280" cy="22860"/>
          </a:xfrm>
          <a:prstGeom prst="rect">
            <a:avLst/>
          </a:prstGeom>
          <a:solidFill>
            <a:srgbClr val="1B7F9E">
              <a:alpha val="50000"/>
            </a:srgbClr>
          </a:solidFill>
          <a:ln w="12700">
            <a:solidFill>
              <a:srgbClr val="1B7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5843016" y="2514600"/>
            <a:ext cx="1280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F4F8"/>
                </a:solidFill>
              </a:rPr>
              <a:t>Timeline merge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8F4F8"/>
                </a:solidFill>
              </a:rPr>
              <a:t>RCA scoring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7251192" y="2788920"/>
            <a:ext cx="274320" cy="0"/>
          </a:xfrm>
          <a:prstGeom prst="line">
            <a:avLst/>
          </a:prstGeom>
          <a:noFill/>
          <a:ln w="31750">
            <a:solidFill>
              <a:srgbClr val="5B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7452360" y="2743200"/>
            <a:ext cx="109728" cy="91440"/>
          </a:xfrm>
          <a:prstGeom prst="rect">
            <a:avLst/>
          </a:prstGeom>
          <a:solidFill>
            <a:srgbClr val="5BC8E8"/>
          </a:solidFill>
          <a:ln w="12700">
            <a:solidFill>
              <a:srgbClr val="5B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0"/>
          <p:cNvSpPr/>
          <p:nvPr/>
        </p:nvSpPr>
        <p:spPr>
          <a:xfrm>
            <a:off x="7562088" y="1005840"/>
            <a:ext cx="1463040" cy="3611880"/>
          </a:xfrm>
          <a:prstGeom prst="roundRect">
            <a:avLst>
              <a:gd name="adj" fmla="val 7500"/>
            </a:avLst>
          </a:prstGeom>
          <a:solidFill>
            <a:srgbClr val="0A2342"/>
          </a:solidFill>
          <a:ln w="19050">
            <a:solidFill>
              <a:srgbClr val="1B7F9E"/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1"/>
          <p:cNvSpPr/>
          <p:nvPr/>
        </p:nvSpPr>
        <p:spPr>
          <a:xfrm>
            <a:off x="7946136" y="1188720"/>
            <a:ext cx="694944" cy="694944"/>
          </a:xfrm>
          <a:prstGeom prst="ellipse">
            <a:avLst/>
          </a:prstGeom>
          <a:solidFill>
            <a:srgbClr val="1B7F9E"/>
          </a:solidFill>
          <a:ln w="12700">
            <a:solidFill>
              <a:srgbClr val="1B7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9288" y="1261872"/>
            <a:ext cx="548640" cy="54864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7607808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5BC8E8"/>
                </a:solidFill>
              </a:rPr>
              <a:t>REPORT</a:t>
            </a:r>
            <a:endParaRPr lang="en-US" sz="1200" dirty="0"/>
          </a:p>
        </p:txBody>
      </p:sp>
      <p:sp>
        <p:nvSpPr>
          <p:cNvPr id="40" name="Shape 33"/>
          <p:cNvSpPr/>
          <p:nvPr/>
        </p:nvSpPr>
        <p:spPr>
          <a:xfrm>
            <a:off x="7744968" y="2450592"/>
            <a:ext cx="1097280" cy="22860"/>
          </a:xfrm>
          <a:prstGeom prst="rect">
            <a:avLst/>
          </a:prstGeom>
          <a:solidFill>
            <a:srgbClr val="1B7F9E">
              <a:alpha val="50000"/>
            </a:srgbClr>
          </a:solidFill>
          <a:ln w="12700">
            <a:solidFill>
              <a:srgbClr val="1B7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4"/>
          <p:cNvSpPr/>
          <p:nvPr/>
        </p:nvSpPr>
        <p:spPr>
          <a:xfrm>
            <a:off x="7653528" y="2514600"/>
            <a:ext cx="1280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F4F8"/>
                </a:solidFill>
              </a:rPr>
              <a:t>HTML dashboard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8F4F8"/>
                </a:solidFill>
              </a:rPr>
              <a:t>PDF export</a:t>
            </a:r>
            <a:endParaRPr lang="en-US" sz="1150" dirty="0"/>
          </a:p>
        </p:txBody>
      </p:sp>
      <p:sp>
        <p:nvSpPr>
          <p:cNvPr id="42" name="Text 35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B7F9E"/>
                </a:solidFill>
              </a:rPr>
              <a:t>Fully automated · Watch-mode triggers on new log drop · Results in under a minute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RUN — REAL FINDINGS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7F9E"/>
                </a:solidFill>
              </a:rPr>
              <a:t>Actual client test run  ·  Run ID: 5b994405  ·  Duration: 74.7 min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75120" y="914400"/>
            <a:ext cx="2148840" cy="411480"/>
          </a:xfrm>
          <a:prstGeom prst="roundRect">
            <a:avLst>
              <a:gd name="adj" fmla="val 22222"/>
            </a:avLst>
          </a:prstGeom>
          <a:solidFill>
            <a:srgbClr val="450A0A"/>
          </a:solidFill>
          <a:ln w="1905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75120" y="9144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4C3C"/>
                </a:solidFill>
              </a:rPr>
              <a:t>VERDICT: FAIL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57276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" y="148132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342"/>
                </a:solidFill>
              </a:rPr>
              <a:t>673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1115568" y="20665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A6B"/>
                </a:solidFill>
              </a:rPr>
              <a:t>Total Findings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46120" y="141732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157276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95928" y="148132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342"/>
                </a:solidFill>
              </a:rPr>
              <a:t>23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3995928" y="20665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A6B"/>
                </a:solidFill>
              </a:rPr>
              <a:t>Failed Transactions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26480" y="141732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1572768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76288" y="148132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342"/>
                </a:solidFill>
              </a:rPr>
              <a:t>990</a:t>
            </a:r>
            <a:endParaRPr lang="en-US" sz="3200" dirty="0"/>
          </a:p>
        </p:txBody>
      </p:sp>
      <p:sp>
        <p:nvSpPr>
          <p:cNvPr id="18" name="Text 13"/>
          <p:cNvSpPr/>
          <p:nvPr/>
        </p:nvSpPr>
        <p:spPr>
          <a:xfrm>
            <a:off x="6876288" y="20665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A6B"/>
                </a:solidFill>
              </a:rPr>
              <a:t>Achieved TPS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65760" y="274320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DECEA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2898648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15568" y="28072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74C3C"/>
                </a:solidFill>
              </a:rPr>
              <a:t>97.9%</a:t>
            </a:r>
            <a:endParaRPr lang="en-US" sz="3200" dirty="0"/>
          </a:p>
        </p:txBody>
      </p:sp>
      <p:sp>
        <p:nvSpPr>
          <p:cNvPr id="22" name="Text 16"/>
          <p:cNvSpPr/>
          <p:nvPr/>
        </p:nvSpPr>
        <p:spPr>
          <a:xfrm>
            <a:off x="1115568" y="3392424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1A1A"/>
                </a:solidFill>
              </a:rPr>
              <a:t>Peak CPU (threshold 85%)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3246120" y="274320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DECEA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712" y="2898648"/>
            <a:ext cx="457200" cy="4572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995928" y="28072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74C3C"/>
                </a:solidFill>
              </a:rPr>
              <a:t>98%</a:t>
            </a:r>
            <a:endParaRPr lang="en-US" sz="3200" dirty="0"/>
          </a:p>
        </p:txBody>
      </p:sp>
      <p:sp>
        <p:nvSpPr>
          <p:cNvPr id="26" name="Text 19"/>
          <p:cNvSpPr/>
          <p:nvPr/>
        </p:nvSpPr>
        <p:spPr>
          <a:xfrm>
            <a:off x="3995928" y="3392424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1A1A"/>
                </a:solidFill>
              </a:rPr>
              <a:t>Memory (threshold 90%)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6126480" y="274320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DECEA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1072" y="2898648"/>
            <a:ext cx="457200" cy="4572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876288" y="28072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74C3C"/>
                </a:solidFill>
              </a:rPr>
              <a:t>20</a:t>
            </a:r>
            <a:endParaRPr lang="en-US" sz="3200" dirty="0"/>
          </a:p>
        </p:txBody>
      </p:sp>
      <p:sp>
        <p:nvSpPr>
          <p:cNvPr id="30" name="Text 22"/>
          <p:cNvSpPr/>
          <p:nvPr/>
        </p:nvSpPr>
        <p:spPr>
          <a:xfrm>
            <a:off x="6876288" y="3392424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1A1A"/>
                </a:solidFill>
              </a:rPr>
              <a:t>SQL Blocked Processes (thr. 5)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365760" y="4050792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132D4A"/>
          </a:solidFill>
          <a:ln w="12700">
            <a:solidFill>
              <a:srgbClr val="13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4"/>
          <p:cNvSpPr/>
          <p:nvPr/>
        </p:nvSpPr>
        <p:spPr>
          <a:xfrm>
            <a:off x="365760" y="4087368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C8E8"/>
                </a:solidFill>
              </a:rPr>
              <a:t>SQL Deadlocks: 1.07/s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2048256" y="4114800"/>
            <a:ext cx="0" cy="502920"/>
          </a:xfrm>
          <a:prstGeom prst="line">
            <a:avLst/>
          </a:prstGeom>
          <a:noFill/>
          <a:ln w="6350">
            <a:solidFill>
              <a:srgbClr val="1B7F9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6"/>
          <p:cNvSpPr/>
          <p:nvPr/>
        </p:nvSpPr>
        <p:spPr>
          <a:xfrm>
            <a:off x="2048256" y="4087368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C8E8"/>
                </a:solidFill>
              </a:rPr>
              <a:t>IIS Error Rate: 5.8%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3730752" y="4114800"/>
            <a:ext cx="0" cy="502920"/>
          </a:xfrm>
          <a:prstGeom prst="line">
            <a:avLst/>
          </a:prstGeom>
          <a:noFill/>
          <a:ln w="6350">
            <a:solidFill>
              <a:srgbClr val="1B7F9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8"/>
          <p:cNvSpPr/>
          <p:nvPr/>
        </p:nvSpPr>
        <p:spPr>
          <a:xfrm>
            <a:off x="3730752" y="4087368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C8E8"/>
                </a:solidFill>
              </a:rPr>
              <a:t>HTTP 500s: 7</a:t>
            </a:r>
            <a:endParaRPr lang="en-US" sz="1100" dirty="0"/>
          </a:p>
        </p:txBody>
      </p:sp>
      <p:sp>
        <p:nvSpPr>
          <p:cNvPr id="37" name="Shape 29"/>
          <p:cNvSpPr/>
          <p:nvPr/>
        </p:nvSpPr>
        <p:spPr>
          <a:xfrm>
            <a:off x="5413248" y="4114800"/>
            <a:ext cx="0" cy="502920"/>
          </a:xfrm>
          <a:prstGeom prst="line">
            <a:avLst/>
          </a:prstGeom>
          <a:noFill/>
          <a:ln w="6350">
            <a:solidFill>
              <a:srgbClr val="1B7F9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0"/>
          <p:cNvSpPr/>
          <p:nvPr/>
        </p:nvSpPr>
        <p:spPr>
          <a:xfrm>
            <a:off x="5413248" y="4087368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C8E8"/>
                </a:solidFill>
              </a:rPr>
              <a:t>Disk Queue: 4.49 (thr. 2.0)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7095744" y="4114800"/>
            <a:ext cx="0" cy="502920"/>
          </a:xfrm>
          <a:prstGeom prst="line">
            <a:avLst/>
          </a:prstGeom>
          <a:noFill/>
          <a:ln w="6350">
            <a:solidFill>
              <a:srgbClr val="1B7F9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2"/>
          <p:cNvSpPr/>
          <p:nvPr/>
        </p:nvSpPr>
        <p:spPr>
          <a:xfrm>
            <a:off x="7095744" y="4087368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C8E8"/>
                </a:solidFill>
              </a:rPr>
              <a:t>SQL Page Life: 50s (thr. 300s)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8C8D8"/>
                </a:solidFill>
              </a:rPr>
              <a:t>AI-generated causal chain — memory exhaustion cascading to full stack failure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132D4A"/>
          </a:solidFill>
          <a:ln w="12700">
            <a:solidFill>
              <a:srgbClr val="13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453896"/>
            <a:ext cx="384048" cy="384048"/>
          </a:xfrm>
          <a:prstGeom prst="ellipse">
            <a:avLst/>
          </a:prstGeom>
          <a:solidFill>
            <a:srgbClr val="1B7F9E"/>
          </a:solidFill>
          <a:ln w="12700">
            <a:solidFill>
              <a:srgbClr val="1B7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453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1426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C8E8"/>
                </a:solidFill>
              </a:rPr>
              <a:t>Memory Exhaustion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94760" y="1463040"/>
            <a:ext cx="822960" cy="201168"/>
          </a:xfrm>
          <a:prstGeom prst="roundRect">
            <a:avLst>
              <a:gd name="adj" fmla="val 27273"/>
            </a:avLst>
          </a:prstGeom>
          <a:solidFill>
            <a:srgbClr val="450A0A"/>
          </a:solidFill>
          <a:ln w="1016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794760" y="1463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74C3C"/>
                </a:solidFill>
              </a:rPr>
              <a:t>HIGH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709160" y="1426464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Available memory dropped 52.6% over the run (-78 MB/min). Committed memory hit 98%.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" y="1929384"/>
            <a:ext cx="0" cy="64008"/>
          </a:xfrm>
          <a:prstGeom prst="line">
            <a:avLst/>
          </a:prstGeom>
          <a:noFill/>
          <a:ln w="19050">
            <a:solidFill>
              <a:srgbClr val="1B7F9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1993392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132D4A"/>
          </a:solidFill>
          <a:ln w="12700">
            <a:solidFill>
              <a:srgbClr val="13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" y="2075688"/>
            <a:ext cx="384048" cy="384048"/>
          </a:xfrm>
          <a:prstGeom prst="ellipse">
            <a:avLst/>
          </a:prstGeom>
          <a:solidFill>
            <a:srgbClr val="1B7F9E"/>
          </a:solidFill>
          <a:ln w="12700">
            <a:solidFill>
              <a:srgbClr val="1B7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20482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C8E8"/>
                </a:solidFill>
              </a:rPr>
              <a:t>CPU Saturation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0" y="2084832"/>
            <a:ext cx="822960" cy="201168"/>
          </a:xfrm>
          <a:prstGeom prst="roundRect">
            <a:avLst>
              <a:gd name="adj" fmla="val 27273"/>
            </a:avLst>
          </a:prstGeom>
          <a:solidFill>
            <a:srgbClr val="451A03"/>
          </a:solidFill>
          <a:ln w="1016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94760" y="20848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39C12"/>
                </a:solidFill>
              </a:rPr>
              <a:t>MEDIUM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09160" y="2048256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GC pressure and memory paging drove CPU to 97.9%, breaching the 85% threshold (23 breaches).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5216" y="2551176"/>
            <a:ext cx="0" cy="64008"/>
          </a:xfrm>
          <a:prstGeom prst="line">
            <a:avLst/>
          </a:prstGeom>
          <a:noFill/>
          <a:ln w="19050">
            <a:solidFill>
              <a:srgbClr val="1B7F9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2615184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132D4A"/>
          </a:solidFill>
          <a:ln w="12700">
            <a:solidFill>
              <a:srgbClr val="13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1480" y="2697480"/>
            <a:ext cx="384048" cy="384048"/>
          </a:xfrm>
          <a:prstGeom prst="ellipse">
            <a:avLst/>
          </a:prstGeom>
          <a:solidFill>
            <a:srgbClr val="1B7F9E"/>
          </a:solidFill>
          <a:ln w="12700">
            <a:solidFill>
              <a:srgbClr val="1B7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0120" y="2670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C8E8"/>
                </a:solidFill>
              </a:rPr>
              <a:t>Disk I/O Bottleneck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794760" y="2706624"/>
            <a:ext cx="822960" cy="201168"/>
          </a:xfrm>
          <a:prstGeom prst="roundRect">
            <a:avLst>
              <a:gd name="adj" fmla="val 27273"/>
            </a:avLst>
          </a:prstGeom>
          <a:solidFill>
            <a:srgbClr val="451A03"/>
          </a:solidFill>
          <a:ln w="1016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794760" y="27066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39C12"/>
                </a:solidFill>
              </a:rPr>
              <a:t>MEDIUM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09160" y="267004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Disk queue length grew 249% during the run, delaying all I/O operations on the server.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85216" y="3172968"/>
            <a:ext cx="0" cy="64008"/>
          </a:xfrm>
          <a:prstGeom prst="line">
            <a:avLst/>
          </a:prstGeom>
          <a:noFill/>
          <a:ln w="19050">
            <a:solidFill>
              <a:srgbClr val="1B7F9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65760" y="3236976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132D4A"/>
          </a:solidFill>
          <a:ln w="12700">
            <a:solidFill>
              <a:srgbClr val="13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11480" y="3319272"/>
            <a:ext cx="384048" cy="384048"/>
          </a:xfrm>
          <a:prstGeom prst="ellipse">
            <a:avLst/>
          </a:prstGeom>
          <a:solidFill>
            <a:srgbClr val="1B7F9E"/>
          </a:solidFill>
          <a:ln w="12700">
            <a:solidFill>
              <a:srgbClr val="1B7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11480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60120" y="3291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C8E8"/>
                </a:solidFill>
              </a:rPr>
              <a:t>SQL Deadlocks &amp; Blocking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794760" y="3328416"/>
            <a:ext cx="822960" cy="201168"/>
          </a:xfrm>
          <a:prstGeom prst="roundRect">
            <a:avLst>
              <a:gd name="adj" fmla="val 27273"/>
            </a:avLst>
          </a:prstGeom>
          <a:solidFill>
            <a:srgbClr val="451A03"/>
          </a:solidFill>
          <a:ln w="1016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794760" y="33284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39C12"/>
                </a:solidFill>
              </a:rPr>
              <a:t>MEDIUM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09160" y="329184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I/O delays caused 300 SQL deadlocks, 20 blocked processes, page life expectancy collapsed to 50s (threshold: 300s).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85216" y="3794760"/>
            <a:ext cx="0" cy="64008"/>
          </a:xfrm>
          <a:prstGeom prst="line">
            <a:avLst/>
          </a:prstGeom>
          <a:noFill/>
          <a:ln w="19050">
            <a:solidFill>
              <a:srgbClr val="1B7F9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65760" y="3858768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132D4A"/>
          </a:solidFill>
          <a:ln w="12700">
            <a:solidFill>
              <a:srgbClr val="13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11480" y="3941064"/>
            <a:ext cx="384048" cy="384048"/>
          </a:xfrm>
          <a:prstGeom prst="ellipse">
            <a:avLst/>
          </a:prstGeom>
          <a:solidFill>
            <a:srgbClr val="1B7F9E"/>
          </a:solidFill>
          <a:ln w="12700">
            <a:solidFill>
              <a:srgbClr val="1B7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1148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60120" y="39136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C8E8"/>
                </a:solidFill>
              </a:rPr>
              <a:t>SLA Breaches &amp; TX Failures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794760" y="3950208"/>
            <a:ext cx="822960" cy="201168"/>
          </a:xfrm>
          <a:prstGeom prst="roundRect">
            <a:avLst>
              <a:gd name="adj" fmla="val 27273"/>
            </a:avLst>
          </a:prstGeom>
          <a:solidFill>
            <a:srgbClr val="450A0A"/>
          </a:solidFill>
          <a:ln w="1016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794760" y="39502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74C3C"/>
                </a:solidFill>
              </a:rPr>
              <a:t>HIGH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709160" y="3913632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Combined pressure produced 23 failed transactions across Checkout and Payment flows.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8C8D8"/>
                </a:solidFill>
              </a:rPr>
              <a:t>Measurable impact from day one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069080" cy="777240"/>
          </a:xfrm>
          <a:prstGeom prst="roundRect">
            <a:avLst>
              <a:gd name="adj" fmla="val 9412"/>
            </a:avLst>
          </a:prstGeom>
          <a:solidFill>
            <a:srgbClr val="132D4A"/>
          </a:solidFill>
          <a:ln w="12700">
            <a:solidFill>
              <a:srgbClr val="13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27048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44475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C8E8"/>
                </a:solidFill>
              </a:rPr>
              <a:t>60% Faster RCA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24128" y="170078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From hours to minutes. Engineers focus on tuning and recommendations, not log archaeology.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1371600"/>
            <a:ext cx="4069080" cy="777240"/>
          </a:xfrm>
          <a:prstGeom prst="roundRect">
            <a:avLst>
              <a:gd name="adj" fmla="val 9412"/>
            </a:avLst>
          </a:prstGeom>
          <a:solidFill>
            <a:srgbClr val="132D4A"/>
          </a:solidFill>
          <a:ln w="12700">
            <a:solidFill>
              <a:srgbClr val="13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527048"/>
            <a:ext cx="402336" cy="402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21808" y="144475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C8E8"/>
                </a:solidFill>
              </a:rPr>
              <a:t>No Missed Correlations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321808" y="170078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Cross-source correlation caught the memory leak → SQL deadlock chain that a single-tool view would miss.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65760" y="2286000"/>
            <a:ext cx="4069080" cy="777240"/>
          </a:xfrm>
          <a:prstGeom prst="roundRect">
            <a:avLst>
              <a:gd name="adj" fmla="val 9412"/>
            </a:avLst>
          </a:prstGeom>
          <a:solidFill>
            <a:srgbClr val="132D4A"/>
          </a:solidFill>
          <a:ln w="12700">
            <a:solidFill>
              <a:srgbClr val="13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441448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24128" y="235915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C8E8"/>
                </a:solidFill>
              </a:rPr>
              <a:t>Consistent, Audit-Ready Reports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024128" y="261518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Every run produces an identical HTML + PDF — branded, client-ready, version-controlled.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663440" y="2286000"/>
            <a:ext cx="4069080" cy="777240"/>
          </a:xfrm>
          <a:prstGeom prst="roundRect">
            <a:avLst>
              <a:gd name="adj" fmla="val 9412"/>
            </a:avLst>
          </a:prstGeom>
          <a:solidFill>
            <a:srgbClr val="132D4A"/>
          </a:solidFill>
          <a:ln w="12700">
            <a:solidFill>
              <a:srgbClr val="13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441448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21808" y="235915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C8E8"/>
                </a:solidFill>
              </a:rPr>
              <a:t>Scales Across Runs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321808" y="261518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Watch-mode auto-processes logs as they arrive. No babysitting the test lab.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65760" y="3200400"/>
            <a:ext cx="4069080" cy="777240"/>
          </a:xfrm>
          <a:prstGeom prst="roundRect">
            <a:avLst>
              <a:gd name="adj" fmla="val 9412"/>
            </a:avLst>
          </a:prstGeom>
          <a:solidFill>
            <a:srgbClr val="132D4A"/>
          </a:solidFill>
          <a:ln w="12700">
            <a:solidFill>
              <a:srgbClr val="13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355848"/>
            <a:ext cx="402336" cy="40233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24128" y="327355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C8E8"/>
                </a:solidFill>
              </a:rPr>
              <a:t>Explainable AI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024128" y="352958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Every finding links to raw log evidence with exact timestamps. Full traceability, no black box.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663440" y="3200400"/>
            <a:ext cx="4069080" cy="777240"/>
          </a:xfrm>
          <a:prstGeom prst="roundRect">
            <a:avLst>
              <a:gd name="adj" fmla="val 9412"/>
            </a:avLst>
          </a:prstGeom>
          <a:solidFill>
            <a:srgbClr val="132D4A"/>
          </a:solidFill>
          <a:ln w="12700">
            <a:solidFill>
              <a:srgbClr val="13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3355848"/>
            <a:ext cx="402336" cy="40233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321808" y="327355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C8E8"/>
                </a:solidFill>
              </a:rPr>
              <a:t>Easy Integration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5321808" y="352958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Drop-in Python package. Works alongside JMeter, Gatling, LoadRunner, or k6 workflows.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1B7F9E">
              <a:alpha val="15000"/>
            </a:srgbClr>
          </a:solidFill>
          <a:ln w="12700">
            <a:solidFill>
              <a:srgbClr val="1B7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8C8D8"/>
                </a:solidFill>
              </a:rPr>
              <a:t>From demo to production in 3 steps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640080" cy="640080"/>
          </a:xfrm>
          <a:prstGeom prst="ellipse">
            <a:avLst/>
          </a:prstGeom>
          <a:solidFill>
            <a:srgbClr val="1B7F9E"/>
          </a:solidFill>
          <a:ln w="12700">
            <a:solidFill>
              <a:srgbClr val="1B7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80136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63524" y="2423160"/>
            <a:ext cx="0" cy="1051560"/>
          </a:xfrm>
          <a:prstGeom prst="line">
            <a:avLst/>
          </a:prstGeom>
          <a:noFill/>
          <a:ln w="19050">
            <a:solidFill>
              <a:srgbClr val="1B7F9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71600" y="1691640"/>
            <a:ext cx="7223760" cy="777240"/>
          </a:xfrm>
          <a:prstGeom prst="roundRect">
            <a:avLst>
              <a:gd name="adj" fmla="val 9412"/>
            </a:avLst>
          </a:prstGeom>
          <a:solidFill>
            <a:srgbClr val="132D4A"/>
          </a:solidFill>
          <a:ln w="12700">
            <a:solidFill>
              <a:srgbClr val="13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08760" y="17556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C8E8"/>
                </a:solidFill>
              </a:rPr>
              <a:t>Pilot on Your Logs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08760" y="2075688"/>
            <a:ext cx="6903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</a:rPr>
              <a:t>Share a recent PT run (BLG + IIS + LR). We run the pipeline and compare AI findings vs. your manual analysis.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640080" cy="640080"/>
          </a:xfrm>
          <a:prstGeom prst="ellipse">
            <a:avLst/>
          </a:prstGeom>
          <a:solidFill>
            <a:srgbClr val="1B7F9E"/>
          </a:solidFill>
          <a:ln w="12700">
            <a:solidFill>
              <a:srgbClr val="1B7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80720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3524" y="3429000"/>
            <a:ext cx="0" cy="1051560"/>
          </a:xfrm>
          <a:prstGeom prst="line">
            <a:avLst/>
          </a:prstGeom>
          <a:noFill/>
          <a:ln w="19050">
            <a:solidFill>
              <a:srgbClr val="1B7F9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371600" y="2697480"/>
            <a:ext cx="7223760" cy="777240"/>
          </a:xfrm>
          <a:prstGeom prst="roundRect">
            <a:avLst>
              <a:gd name="adj" fmla="val 9412"/>
            </a:avLst>
          </a:prstGeom>
          <a:solidFill>
            <a:srgbClr val="132D4A"/>
          </a:solidFill>
          <a:ln w="12700">
            <a:solidFill>
              <a:srgbClr val="13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276148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C8E8"/>
                </a:solidFill>
              </a:rPr>
              <a:t>Tune &amp; Customise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08760" y="3081528"/>
            <a:ext cx="6903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</a:rPr>
              <a:t>Configure thresholds, alert rules, and report template to match your SLOs and client branding.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640080" cy="640080"/>
          </a:xfrm>
          <a:prstGeom prst="ellipse">
            <a:avLst/>
          </a:prstGeom>
          <a:solidFill>
            <a:srgbClr val="1B7F9E"/>
          </a:solidFill>
          <a:ln w="12700">
            <a:solidFill>
              <a:srgbClr val="1B7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81304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371600" y="3703320"/>
            <a:ext cx="7223760" cy="777240"/>
          </a:xfrm>
          <a:prstGeom prst="roundRect">
            <a:avLst>
              <a:gd name="adj" fmla="val 9412"/>
            </a:avLst>
          </a:prstGeom>
          <a:solidFill>
            <a:srgbClr val="132D4A"/>
          </a:solidFill>
          <a:ln w="12700">
            <a:solidFill>
              <a:srgbClr val="13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508760" y="376732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C8E8"/>
                </a:solidFill>
              </a:rPr>
              <a:t>Integrate &amp; Automate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08760" y="4087368"/>
            <a:ext cx="6903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</a:rPr>
              <a:t>Deploy watch-mode in your test lab. Every new test run is analysed and reported automatically.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68172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5BC8E8"/>
                </a:solidFill>
              </a:rPr>
              <a:t>You've seen it work on real data. Let's make it work for you.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862</Words>
  <Application>Microsoft Macintosh PowerPoint</Application>
  <PresentationFormat>On-screen Show (16:9)</PresentationFormat>
  <Paragraphs>124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PT AI Log Mining — Client Demo</dc:title>
  <dc:subject>PptxGenJS Presentation</dc:subject>
  <dc:creator>Pankaj Kumar</dc:creator>
  <cp:lastModifiedBy>Pankaj Kumar Sharma</cp:lastModifiedBy>
  <cp:revision>4</cp:revision>
  <dcterms:created xsi:type="dcterms:W3CDTF">2026-07-01T10:55:50Z</dcterms:created>
  <dcterms:modified xsi:type="dcterms:W3CDTF">2026-09-27T14:53:35Z</dcterms:modified>
</cp:coreProperties>
</file>