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client. Today we walk through the PT AI pipeline with real findings from a live test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client how long their team spends on RCA today. This sets the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as a force-multiplier — not replacing engineers, removing the drudgery.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watch-mode — just drop logs and get a report. No manual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client run. Every finding is linked to actual log timestamps. Offer to walk through the HTML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chain. Point out that this was generated automatically — no analyst wrote this. The AI connected BLG memory trend to SQL deadlocks to LR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40% RCA reduction. Ask the client their current RCA cost per test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strong — the CTA is more powerful now because the client just saw the pipeline catch real failures in their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097280"/>
            <a:ext cx="5029200" cy="5029200"/>
          </a:xfrm>
          <a:prstGeom prst="ellipse">
            <a:avLst/>
          </a:prstGeom>
          <a:solidFill>
            <a:srgbClr val="1B7F9E">
              <a:alpha val="22000"/>
            </a:srgbClr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5BC8E8">
              <a:alpha val="15000"/>
            </a:srgbClr>
          </a:solidFill>
          <a:ln w="12700">
            <a:solidFill>
              <a:srgbClr val="5B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C8E8"/>
                </a:solidFill>
              </a:rPr>
              <a:t>CLIENT DEMO  ·  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 AI Log Mining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8C8D8"/>
                </a:solidFill>
              </a:rPr>
              <a:t>Intelligent Root Cause Analysis for Performance Testing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2011680" cy="45720"/>
          </a:xfrm>
          <a:prstGeom prst="rect">
            <a:avLst/>
          </a:prstGeom>
          <a:solidFill>
            <a:srgbClr val="5BC8E8"/>
          </a:solidFill>
          <a:ln w="12700">
            <a:solidFill>
              <a:srgbClr val="5BC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566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8D8"/>
                </a:solidFill>
              </a:rPr>
              <a:t>Presented by  Pankaj Kumar  ·  Performance Engineering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28016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A2342"/>
                </a:solidFill>
              </a:rPr>
              <a:t>Manual RCA from performance logs is slow, inconsistent, and expensive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27432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342"/>
                </a:solidFill>
              </a:rPr>
              <a:t>Hours of Manual Work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880360"/>
            <a:ext cx="2487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B"/>
                </a:solidFill>
              </a:rPr>
              <a:t>Engineers sift through thousands of log lines across BLG, IIS, and LoadRunner files — often 4–8 hours per test run.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1600200"/>
            <a:ext cx="27432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783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83280" y="2377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342"/>
                </a:solidFill>
              </a:rPr>
              <a:t>Missed Root Causes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383280" y="2880360"/>
            <a:ext cx="2487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B"/>
                </a:solidFill>
              </a:rPr>
              <a:t>Siloed tool views mean correlated failures go undetected. A backend memory leak causing SQL deadlocks is easy to miss.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26480" y="1600200"/>
            <a:ext cx="27432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63640" y="2377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342"/>
                </a:solidFill>
              </a:rPr>
              <a:t>Inconsistent Reporting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263640" y="2880360"/>
            <a:ext cx="2487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B"/>
                </a:solidFill>
              </a:rPr>
              <a:t>Each engineer produces a different format. Findings are hard to compare across runs or present to clients.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D8"/>
                </a:solidFill>
              </a:rPr>
              <a:t>End-to-end AI pipeline — ingests, correlates and explains performance failures automatically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32D4A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BC8E8"/>
                </a:solidFill>
              </a:rPr>
              <a:t>40%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8D8"/>
                </a:solidFill>
              </a:rPr>
              <a:t>Faster RCA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24328" y="15544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32D4A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24328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BC8E8"/>
                </a:solidFill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624328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8D8"/>
                </a:solidFill>
              </a:rPr>
              <a:t>AI Agents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73752" y="15544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32D4A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BC8E8"/>
                </a:solidFill>
              </a:rPr>
              <a:t>3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873752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8D8"/>
                </a:solidFill>
              </a:rPr>
              <a:t>Log Sources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15544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32D4A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BC8E8"/>
                </a:solidFill>
              </a:rPr>
              <a:t>100%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13232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8D8"/>
                </a:solidFill>
              </a:rPr>
              <a:t>Automated Report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10896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004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C8E8"/>
                </a:solidFill>
              </a:rPr>
              <a:t>PT AI Log Mining</a:t>
            </a:r>
            <a:pPr indent="0" marL="0">
              <a:buNone/>
            </a:pPr>
            <a:r>
              <a:rPr lang="en-US" sz="1400" dirty="0">
                <a:solidFill>
                  <a:srgbClr val="E8F4F8"/>
                </a:solidFill>
              </a:rPr>
              <a:t> automatically ingests Windows Performance Monitor (.BLG), IIS web server logs, and LoadRunner results. </a:t>
            </a:r>
            <a:pPr indent="0" marL="0">
              <a:buNone/>
            </a:pPr>
            <a:r>
              <a:rPr lang="en-US" sz="1400" b="1" dirty="0">
                <a:solidFill>
                  <a:srgbClr val="5BC8E8"/>
                </a:solidFill>
              </a:rPr>
              <a:t>Five specialized AI agents</a:t>
            </a:r>
            <a:pPr indent="0" marL="0">
              <a:buNone/>
            </a:pPr>
            <a:r>
              <a:rPr lang="en-US" sz="1400" dirty="0">
                <a:solidFill>
                  <a:srgbClr val="E8F4F8"/>
                </a:solidFill>
              </a:rPr>
              <a:t> detect anomalies, trends, threshold breaches, and patterns — then a causal reasoning agent produces a plain-English Root Cause Analysis with a PDF report in seconds.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463040" cy="3611880"/>
          </a:xfrm>
          <a:prstGeom prst="roundRect">
            <a:avLst>
              <a:gd name="adj" fmla="val 7500"/>
            </a:avLst>
          </a:prstGeom>
          <a:solidFill>
            <a:srgbClr val="0A2342"/>
          </a:solidFill>
          <a:ln w="19050">
            <a:solidFill>
              <a:srgbClr val="1B7F9E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188720"/>
            <a:ext cx="694944" cy="694944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61872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5BC8E8"/>
                </a:solidFill>
              </a:rPr>
              <a:t>INGEST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450592"/>
            <a:ext cx="1097280" cy="22860"/>
          </a:xfrm>
          <a:prstGeom prst="rect">
            <a:avLst/>
          </a:prstGeom>
          <a:solidFill>
            <a:srgbClr val="1B7F9E">
              <a:alpha val="50000"/>
            </a:srgbClr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251460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BLG · IIS · LoadRunner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File watcher (auto)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819656" y="2788920"/>
            <a:ext cx="274320" cy="0"/>
          </a:xfrm>
          <a:prstGeom prst="line">
            <a:avLst/>
          </a:prstGeom>
          <a:noFill/>
          <a:ln w="31750">
            <a:solidFill>
              <a:srgbClr val="5BC8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20824" y="2743200"/>
            <a:ext cx="109728" cy="91440"/>
          </a:xfrm>
          <a:prstGeom prst="rect">
            <a:avLst/>
          </a:prstGeom>
          <a:solidFill>
            <a:srgbClr val="5BC8E8"/>
          </a:solidFill>
          <a:ln w="12700">
            <a:solidFill>
              <a:srgbClr val="5BC8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0552" y="1005840"/>
            <a:ext cx="1463040" cy="3611880"/>
          </a:xfrm>
          <a:prstGeom prst="roundRect">
            <a:avLst>
              <a:gd name="adj" fmla="val 7500"/>
            </a:avLst>
          </a:prstGeom>
          <a:solidFill>
            <a:srgbClr val="0A2342"/>
          </a:solidFill>
          <a:ln w="19050">
            <a:solidFill>
              <a:srgbClr val="1B7F9E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14600" y="1188720"/>
            <a:ext cx="694944" cy="694944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752" y="1261872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176272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5BC8E8"/>
                </a:solidFill>
              </a:rPr>
              <a:t>PARSE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313432" y="2450592"/>
            <a:ext cx="1097280" cy="22860"/>
          </a:xfrm>
          <a:prstGeom prst="rect">
            <a:avLst/>
          </a:prstGeom>
          <a:solidFill>
            <a:srgbClr val="1B7F9E">
              <a:alpha val="50000"/>
            </a:srgbClr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221992" y="251460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Normalise · Tag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Store → DuckDB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3630168" y="2788920"/>
            <a:ext cx="274320" cy="0"/>
          </a:xfrm>
          <a:prstGeom prst="line">
            <a:avLst/>
          </a:prstGeom>
          <a:noFill/>
          <a:ln w="31750">
            <a:solidFill>
              <a:srgbClr val="5BC8E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831336" y="2743200"/>
            <a:ext cx="109728" cy="91440"/>
          </a:xfrm>
          <a:prstGeom prst="rect">
            <a:avLst/>
          </a:prstGeom>
          <a:solidFill>
            <a:srgbClr val="5BC8E8"/>
          </a:solidFill>
          <a:ln w="12700">
            <a:solidFill>
              <a:srgbClr val="5BC8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941064" y="1005840"/>
            <a:ext cx="1463040" cy="3611880"/>
          </a:xfrm>
          <a:prstGeom prst="roundRect">
            <a:avLst>
              <a:gd name="adj" fmla="val 7500"/>
            </a:avLst>
          </a:prstGeom>
          <a:solidFill>
            <a:srgbClr val="0A2342"/>
          </a:solidFill>
          <a:ln w="19050">
            <a:solidFill>
              <a:srgbClr val="1B7F9E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325112" y="1188720"/>
            <a:ext cx="694944" cy="694944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261872"/>
            <a:ext cx="548640" cy="5486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986784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5BC8E8"/>
                </a:solidFill>
              </a:rPr>
              <a:t>AI AGENTS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123944" y="2450592"/>
            <a:ext cx="1097280" cy="22860"/>
          </a:xfrm>
          <a:prstGeom prst="rect">
            <a:avLst/>
          </a:prstGeom>
          <a:solidFill>
            <a:srgbClr val="1B7F9E">
              <a:alpha val="50000"/>
            </a:srgbClr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032504" y="251460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Anomaly · Trend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Threshold · Pattern · Causal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5440680" y="2788920"/>
            <a:ext cx="274320" cy="0"/>
          </a:xfrm>
          <a:prstGeom prst="line">
            <a:avLst/>
          </a:prstGeom>
          <a:noFill/>
          <a:ln w="31750">
            <a:solidFill>
              <a:srgbClr val="5BC8E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41848" y="2743200"/>
            <a:ext cx="109728" cy="91440"/>
          </a:xfrm>
          <a:prstGeom prst="rect">
            <a:avLst/>
          </a:prstGeom>
          <a:solidFill>
            <a:srgbClr val="5BC8E8"/>
          </a:solidFill>
          <a:ln w="12700">
            <a:solidFill>
              <a:srgbClr val="5BC8E8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751576" y="1005840"/>
            <a:ext cx="1463040" cy="3611880"/>
          </a:xfrm>
          <a:prstGeom prst="roundRect">
            <a:avLst>
              <a:gd name="adj" fmla="val 7500"/>
            </a:avLst>
          </a:prstGeom>
          <a:solidFill>
            <a:srgbClr val="0A2342"/>
          </a:solidFill>
          <a:ln w="19050">
            <a:solidFill>
              <a:srgbClr val="1B7F9E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2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135624" y="1188720"/>
            <a:ext cx="694944" cy="694944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8776" y="1261872"/>
            <a:ext cx="548640" cy="5486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797296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5BC8E8"/>
                </a:solidFill>
              </a:rPr>
              <a:t>CORRELATE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934456" y="2450592"/>
            <a:ext cx="1097280" cy="22860"/>
          </a:xfrm>
          <a:prstGeom prst="rect">
            <a:avLst/>
          </a:prstGeom>
          <a:solidFill>
            <a:srgbClr val="1B7F9E">
              <a:alpha val="50000"/>
            </a:srgbClr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5843016" y="251460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Timeline merge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RCA scoring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7251192" y="2788920"/>
            <a:ext cx="274320" cy="0"/>
          </a:xfrm>
          <a:prstGeom prst="line">
            <a:avLst/>
          </a:prstGeom>
          <a:noFill/>
          <a:ln w="31750">
            <a:solidFill>
              <a:srgbClr val="5BC8E8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452360" y="2743200"/>
            <a:ext cx="109728" cy="91440"/>
          </a:xfrm>
          <a:prstGeom prst="rect">
            <a:avLst/>
          </a:prstGeom>
          <a:solidFill>
            <a:srgbClr val="5BC8E8"/>
          </a:solidFill>
          <a:ln w="12700">
            <a:solidFill>
              <a:srgbClr val="5BC8E8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7562088" y="1005840"/>
            <a:ext cx="1463040" cy="3611880"/>
          </a:xfrm>
          <a:prstGeom prst="roundRect">
            <a:avLst>
              <a:gd name="adj" fmla="val 7500"/>
            </a:avLst>
          </a:prstGeom>
          <a:solidFill>
            <a:srgbClr val="0A2342"/>
          </a:solidFill>
          <a:ln w="19050">
            <a:solidFill>
              <a:srgbClr val="1B7F9E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25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946136" y="1188720"/>
            <a:ext cx="694944" cy="694944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1261872"/>
            <a:ext cx="548640" cy="54864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7607808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5BC8E8"/>
                </a:solidFill>
              </a:rPr>
              <a:t>REPORT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7744968" y="2450592"/>
            <a:ext cx="1097280" cy="22860"/>
          </a:xfrm>
          <a:prstGeom prst="rect">
            <a:avLst/>
          </a:prstGeom>
          <a:solidFill>
            <a:srgbClr val="1B7F9E">
              <a:alpha val="50000"/>
            </a:srgbClr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653528" y="251460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HTML dashboard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F4F8"/>
                </a:solidFill>
              </a:rPr>
              <a:t>PDF export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B7F9E"/>
                </a:solidFill>
              </a:rPr>
              <a:t>Fully automated · Watch-mode triggers on new log drop · Results in under a minute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RUN — REAL FINDINGS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7F9E"/>
                </a:solidFill>
              </a:rPr>
              <a:t>Actual client test run  ·  Run ID: 5b994405  ·  Duration: 74.7 min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675120" y="914400"/>
            <a:ext cx="2148840" cy="411480"/>
          </a:xfrm>
          <a:prstGeom prst="roundRect">
            <a:avLst>
              <a:gd name="adj" fmla="val 22222"/>
            </a:avLst>
          </a:prstGeom>
          <a:solidFill>
            <a:srgbClr val="450A0A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0" y="9144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4C3C"/>
                </a:solidFill>
              </a:rPr>
              <a:t>VERDICT: FAIL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57276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5568" y="14813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342"/>
                </a:solidFill>
              </a:rPr>
              <a:t>673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1115568" y="206654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B"/>
                </a:solidFill>
              </a:rPr>
              <a:t>Total Findings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46120" y="141732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572768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95928" y="14813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342"/>
                </a:solidFill>
              </a:rPr>
              <a:t>23</a:t>
            </a:r>
            <a:endParaRPr lang="en-US" sz="3200" dirty="0"/>
          </a:p>
        </p:txBody>
      </p:sp>
      <p:sp>
        <p:nvSpPr>
          <p:cNvPr id="14" name="Text 10"/>
          <p:cNvSpPr/>
          <p:nvPr/>
        </p:nvSpPr>
        <p:spPr>
          <a:xfrm>
            <a:off x="3995928" y="206654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B"/>
                </a:solidFill>
              </a:rPr>
              <a:t>Failed Transactions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26480" y="141732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572768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76288" y="14813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342"/>
                </a:solidFill>
              </a:rPr>
              <a:t>990</a:t>
            </a:r>
            <a:endParaRPr lang="en-US" sz="3200" dirty="0"/>
          </a:p>
        </p:txBody>
      </p:sp>
      <p:sp>
        <p:nvSpPr>
          <p:cNvPr id="18" name="Text 13"/>
          <p:cNvSpPr/>
          <p:nvPr/>
        </p:nvSpPr>
        <p:spPr>
          <a:xfrm>
            <a:off x="6876288" y="206654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B"/>
                </a:solidFill>
              </a:rPr>
              <a:t>Achieved TPS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65760" y="274320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DECEA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898648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15568" y="280720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4C3C"/>
                </a:solidFill>
              </a:rPr>
              <a:t>97.9%</a:t>
            </a:r>
            <a:endParaRPr lang="en-US" sz="3200" dirty="0"/>
          </a:p>
        </p:txBody>
      </p:sp>
      <p:sp>
        <p:nvSpPr>
          <p:cNvPr id="22" name="Text 16"/>
          <p:cNvSpPr/>
          <p:nvPr/>
        </p:nvSpPr>
        <p:spPr>
          <a:xfrm>
            <a:off x="1115568" y="3392424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1A1A"/>
                </a:solidFill>
              </a:rPr>
              <a:t>Peak CPU (threshold 85%)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3246120" y="274320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DECEA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2898648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995928" y="280720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4C3C"/>
                </a:solidFill>
              </a:rPr>
              <a:t>98%</a:t>
            </a:r>
            <a:endParaRPr lang="en-US" sz="3200" dirty="0"/>
          </a:p>
        </p:txBody>
      </p:sp>
      <p:sp>
        <p:nvSpPr>
          <p:cNvPr id="26" name="Text 19"/>
          <p:cNvSpPr/>
          <p:nvPr/>
        </p:nvSpPr>
        <p:spPr>
          <a:xfrm>
            <a:off x="3995928" y="3392424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1A1A"/>
                </a:solidFill>
              </a:rPr>
              <a:t>Memory (threshold 90%)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6126480" y="274320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DECEA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2" y="2898648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876288" y="280720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4C3C"/>
                </a:solidFill>
              </a:rPr>
              <a:t>20</a:t>
            </a:r>
            <a:endParaRPr lang="en-US" sz="3200" dirty="0"/>
          </a:p>
        </p:txBody>
      </p:sp>
      <p:sp>
        <p:nvSpPr>
          <p:cNvPr id="30" name="Text 22"/>
          <p:cNvSpPr/>
          <p:nvPr/>
        </p:nvSpPr>
        <p:spPr>
          <a:xfrm>
            <a:off x="6876288" y="3392424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1A1A"/>
                </a:solidFill>
              </a:rPr>
              <a:t>SQL Blocked Processes (thr. 5)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365760" y="4050792"/>
            <a:ext cx="8412480" cy="658368"/>
          </a:xfrm>
          <a:prstGeom prst="roundRect">
            <a:avLst>
              <a:gd name="adj" fmla="val 11111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365760" y="4087368"/>
            <a:ext cx="1682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C8E8"/>
                </a:solidFill>
              </a:rPr>
              <a:t>SQL Deadlocks: 1.07/s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2048256" y="4114800"/>
            <a:ext cx="0" cy="502920"/>
          </a:xfrm>
          <a:prstGeom prst="line">
            <a:avLst/>
          </a:prstGeom>
          <a:noFill/>
          <a:ln w="6350">
            <a:solidFill>
              <a:srgbClr val="1B7F9E">
                <a:alpha val="40000"/>
              </a:srgbClr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2048256" y="4087368"/>
            <a:ext cx="1682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C8E8"/>
                </a:solidFill>
              </a:rPr>
              <a:t>IIS Error Rate: 5.8%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3730752" y="4114800"/>
            <a:ext cx="0" cy="502920"/>
          </a:xfrm>
          <a:prstGeom prst="line">
            <a:avLst/>
          </a:prstGeom>
          <a:noFill/>
          <a:ln w="6350">
            <a:solidFill>
              <a:srgbClr val="1B7F9E">
                <a:alpha val="40000"/>
              </a:srgbClr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3730752" y="4087368"/>
            <a:ext cx="1682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C8E8"/>
                </a:solidFill>
              </a:rPr>
              <a:t>HTTP 500s: 7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413248" y="4114800"/>
            <a:ext cx="0" cy="502920"/>
          </a:xfrm>
          <a:prstGeom prst="line">
            <a:avLst/>
          </a:prstGeom>
          <a:noFill/>
          <a:ln w="6350">
            <a:solidFill>
              <a:srgbClr val="1B7F9E">
                <a:alpha val="40000"/>
              </a:srgbClr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5413248" y="4087368"/>
            <a:ext cx="1682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C8E8"/>
                </a:solidFill>
              </a:rPr>
              <a:t>Disk Queue: 4.49 (thr. 2.0)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7095744" y="4114800"/>
            <a:ext cx="0" cy="502920"/>
          </a:xfrm>
          <a:prstGeom prst="line">
            <a:avLst/>
          </a:prstGeom>
          <a:noFill/>
          <a:ln w="6350">
            <a:solidFill>
              <a:srgbClr val="1B7F9E">
                <a:alpha val="40000"/>
              </a:srgbClr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095744" y="4087368"/>
            <a:ext cx="1682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C8E8"/>
                </a:solidFill>
              </a:rPr>
              <a:t>SQL Page Life: 50s (thr. 300s)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 ANALYSIS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D8"/>
                </a:solidFill>
              </a:rPr>
              <a:t>AI-generated causal chain — memory exhaustion cascading to full stack failure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453896"/>
            <a:ext cx="384048" cy="384048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1426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Memory Exhaustion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94760" y="1463040"/>
            <a:ext cx="822960" cy="201168"/>
          </a:xfrm>
          <a:prstGeom prst="roundRect">
            <a:avLst>
              <a:gd name="adj" fmla="val 27273"/>
            </a:avLst>
          </a:prstGeom>
          <a:solidFill>
            <a:srgbClr val="450A0A"/>
          </a:solidFill>
          <a:ln w="10160">
            <a:solidFill>
              <a:srgbClr val="E74C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94760" y="14630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74C3C"/>
                </a:solidFill>
              </a:rPr>
              <a:t>HIGH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709160" y="1426464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Available memory dropped 52.6% over the run (-78 MB/min). Committed memory hit 98%.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5216" y="1929384"/>
            <a:ext cx="0" cy="64008"/>
          </a:xfrm>
          <a:prstGeom prst="line">
            <a:avLst/>
          </a:prstGeom>
          <a:noFill/>
          <a:ln w="19050">
            <a:solidFill>
              <a:srgbClr val="1B7F9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65760" y="1993392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075688"/>
            <a:ext cx="384048" cy="384048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20482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CPU Saturation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94760" y="2084832"/>
            <a:ext cx="822960" cy="201168"/>
          </a:xfrm>
          <a:prstGeom prst="roundRect">
            <a:avLst>
              <a:gd name="adj" fmla="val 27273"/>
            </a:avLst>
          </a:prstGeom>
          <a:solidFill>
            <a:srgbClr val="451A03"/>
          </a:solidFill>
          <a:ln w="1016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20848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39C12"/>
                </a:solidFill>
              </a:rPr>
              <a:t>MEDIUM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09160" y="2048256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GC pressure and memory paging drove CPU to 97.9%, breaching the 85% threshold (23 breaches).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5216" y="2551176"/>
            <a:ext cx="0" cy="64008"/>
          </a:xfrm>
          <a:prstGeom prst="line">
            <a:avLst/>
          </a:prstGeom>
          <a:noFill/>
          <a:ln w="19050">
            <a:solidFill>
              <a:srgbClr val="1B7F9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65760" y="2615184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697480"/>
            <a:ext cx="384048" cy="384048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0120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Disk I/O Bottleneck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794760" y="2706624"/>
            <a:ext cx="822960" cy="201168"/>
          </a:xfrm>
          <a:prstGeom prst="roundRect">
            <a:avLst>
              <a:gd name="adj" fmla="val 27273"/>
            </a:avLst>
          </a:prstGeom>
          <a:solidFill>
            <a:srgbClr val="451A03"/>
          </a:solidFill>
          <a:ln w="1016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27066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39C12"/>
                </a:solidFill>
              </a:rPr>
              <a:t>MEDIUM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670048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Disk queue length grew 249% during the run, delaying all I/O operations on the server.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85216" y="3172968"/>
            <a:ext cx="0" cy="64008"/>
          </a:xfrm>
          <a:prstGeom prst="line">
            <a:avLst/>
          </a:prstGeom>
          <a:noFill/>
          <a:ln w="19050">
            <a:solidFill>
              <a:srgbClr val="1B7F9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365760" y="3236976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1480" y="3319272"/>
            <a:ext cx="384048" cy="384048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60120" y="3291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SQL Deadlocks &amp; Blocking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794760" y="3328416"/>
            <a:ext cx="822960" cy="201168"/>
          </a:xfrm>
          <a:prstGeom prst="roundRect">
            <a:avLst>
              <a:gd name="adj" fmla="val 27273"/>
            </a:avLst>
          </a:prstGeom>
          <a:solidFill>
            <a:srgbClr val="451A03"/>
          </a:solidFill>
          <a:ln w="10160">
            <a:solidFill>
              <a:srgbClr val="F39C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3328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39C12"/>
                </a:solidFill>
              </a:rPr>
              <a:t>MEDIUM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09160" y="3291840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I/O delays caused 300 SQL deadlocks, 20 blocked processes, page life expectancy collapsed to 50s (threshold: 300s).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85216" y="3794760"/>
            <a:ext cx="0" cy="64008"/>
          </a:xfrm>
          <a:prstGeom prst="line">
            <a:avLst/>
          </a:prstGeom>
          <a:noFill/>
          <a:ln w="19050">
            <a:solidFill>
              <a:srgbClr val="1B7F9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5760" y="3858768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480" y="3941064"/>
            <a:ext cx="384048" cy="384048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05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0120" y="39136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SLA Breaches &amp; TX Failures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794760" y="3950208"/>
            <a:ext cx="822960" cy="201168"/>
          </a:xfrm>
          <a:prstGeom prst="roundRect">
            <a:avLst>
              <a:gd name="adj" fmla="val 27273"/>
            </a:avLst>
          </a:prstGeom>
          <a:solidFill>
            <a:srgbClr val="450A0A"/>
          </a:solidFill>
          <a:ln w="10160">
            <a:solidFill>
              <a:srgbClr val="E74C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94760" y="39502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74C3C"/>
                </a:solidFill>
              </a:rPr>
              <a:t>HIGH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709160" y="391363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Combined pressure produced 23 failed transactions across Checkout and Payment flows.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D8"/>
                </a:solidFill>
              </a:rPr>
              <a:t>Measurable impact from day 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27048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447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40% Faster RCA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4128" y="1700784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From hours to minutes. Engineers focus on tuning and recommendations, not log archaeology.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37160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527048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21808" y="14447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No Missed Correlations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321808" y="1700784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Cross-source correlation caught the memory leak → SQL deadlock chain that a single-tool view would miss.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65760" y="228600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441448"/>
            <a:ext cx="402336" cy="4023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23591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Consistent, Audit-Ready Reports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024128" y="2615184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Every run produces an identical HTML + PDF — branded, client-ready, version-controlled.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663440" y="228600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441448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21808" y="23591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Scales Across Runs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321808" y="2615184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Watch-mode auto-processes logs as they arrive. No babysitting the test lab.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65760" y="320040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355848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24128" y="32735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Explainable AI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1024128" y="3529584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Every finding links to raw log evidence with exact timestamps. Full traceability, no black box.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4663440" y="320040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3355848"/>
            <a:ext cx="402336" cy="40233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321808" y="32735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E8"/>
                </a:solidFill>
              </a:rPr>
              <a:t>Easy Integration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5321808" y="3529584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8"/>
                </a:solidFill>
              </a:rPr>
              <a:t>Drop-in Python package. Works alongside JMeter, Gatling, LoadRunner, or k6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1B7F9E">
              <a:alpha val="15000"/>
            </a:srgbClr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C8D8"/>
                </a:solidFill>
              </a:rPr>
              <a:t>From demo to production in 3 steps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640080" cy="640080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0136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3524" y="2423160"/>
            <a:ext cx="0" cy="1051560"/>
          </a:xfrm>
          <a:prstGeom prst="line">
            <a:avLst/>
          </a:prstGeom>
          <a:noFill/>
          <a:ln w="19050">
            <a:solidFill>
              <a:srgbClr val="1B7F9E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371600" y="1691640"/>
            <a:ext cx="722376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17556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C8E8"/>
                </a:solidFill>
              </a:rPr>
              <a:t>Pilot on Your Logs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075688"/>
            <a:ext cx="6903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</a:rPr>
              <a:t>Share a recent PT run (BLG + IIS + LR). We run the pipeline and compare AI findings vs. your manual analysis.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640080" cy="640080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072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" y="3429000"/>
            <a:ext cx="0" cy="1051560"/>
          </a:xfrm>
          <a:prstGeom prst="line">
            <a:avLst/>
          </a:prstGeom>
          <a:noFill/>
          <a:ln w="19050">
            <a:solidFill>
              <a:srgbClr val="1B7F9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71600" y="2697480"/>
            <a:ext cx="722376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276148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C8E8"/>
                </a:solidFill>
              </a:rPr>
              <a:t>Tune &amp; Customise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3081528"/>
            <a:ext cx="6903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</a:rPr>
              <a:t>Configure thresholds, alert rules, and report template to match your SLOs and client branding.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1B7F9E"/>
          </a:solidFill>
          <a:ln w="12700">
            <a:solidFill>
              <a:srgbClr val="1B7F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1304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371600" y="3703320"/>
            <a:ext cx="7223760" cy="777240"/>
          </a:xfrm>
          <a:prstGeom prst="roundRect">
            <a:avLst>
              <a:gd name="adj" fmla="val 9412"/>
            </a:avLst>
          </a:prstGeom>
          <a:solidFill>
            <a:srgbClr val="132D4A"/>
          </a:solidFill>
          <a:ln w="12700">
            <a:solidFill>
              <a:srgbClr val="132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08760" y="37673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C8E8"/>
                </a:solidFill>
              </a:rPr>
              <a:t>Integrate &amp; Automate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087368"/>
            <a:ext cx="6903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</a:rPr>
              <a:t>Deploy watch-mode in your test lab. Every new test run is analysed and reported automatically.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68172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5BC8E8"/>
                </a:solidFill>
              </a:rPr>
              <a:t>You've seen it work on real data. Let's make it work for you.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 AI Log Mining — Client Demo</dc:title>
  <dc:subject>PptxGenJS Presentation</dc:subject>
  <dc:creator>Pankaj Kumar</dc:creator>
  <cp:lastModifiedBy>Pankaj Kumar</cp:lastModifiedBy>
  <cp:revision>1</cp:revision>
  <dcterms:created xsi:type="dcterms:W3CDTF">2026-07-01T10:55:50Z</dcterms:created>
  <dcterms:modified xsi:type="dcterms:W3CDTF">2026-07-01T10:55:50Z</dcterms:modified>
</cp:coreProperties>
</file>