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AI Log Mining — End-to-End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</a:rPr>
              <a:t>4 log sources  ·  5 pipeline phases  ·  3 output formats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8BA4"/>
                </a:solidFill>
              </a:rPr>
              <a:t>INPUT SOURCES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1168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5214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1556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.BLG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4475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PerfMon CSV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987552"/>
            <a:ext cx="201168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987552"/>
            <a:ext cx="201168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15214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111556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Server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08960" y="144475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PerfMon CSV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09160" y="987552"/>
            <a:ext cx="201168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987552"/>
            <a:ext cx="2011680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11556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IIS Logs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03520" y="144475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W3C Extended Log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987552"/>
            <a:ext cx="201168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987552"/>
            <a:ext cx="20116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15214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111556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LoadRunner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98080" y="144475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Results + Vuser Log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325880" y="1947672"/>
            <a:ext cx="36576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225296" y="2103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8E5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520440" y="1947672"/>
            <a:ext cx="36576" cy="320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419856" y="2103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A047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715000" y="1947672"/>
            <a:ext cx="36576" cy="3200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614416" y="2103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B47BC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909560" y="1947672"/>
            <a:ext cx="36576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808976" y="2103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" y="2267712"/>
            <a:ext cx="8778240" cy="54864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81728" y="2267712"/>
            <a:ext cx="36576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81144" y="239572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8E5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20040" y="2359152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8BA4"/>
                </a:solidFill>
              </a:rPr>
              <a:t>PIPELINE PHASES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2615184"/>
            <a:ext cx="21488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20040" y="2615184"/>
            <a:ext cx="21488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93192" y="2724912"/>
            <a:ext cx="310896" cy="31089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93192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2706624"/>
            <a:ext cx="384048" cy="3840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8952" y="2724912"/>
            <a:ext cx="1161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11480" y="31821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Auto-detect file type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1148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BLG · IIS · LR · SQL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11480" y="37307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Parallel parsing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2468880" y="3305556"/>
            <a:ext cx="18288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487168" y="31958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8E5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2651760" y="2615184"/>
            <a:ext cx="21488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2651760" y="2615184"/>
            <a:ext cx="21488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724912" y="2724912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2724912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706624"/>
            <a:ext cx="384048" cy="38404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3090672" y="2724912"/>
            <a:ext cx="1161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PARSE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2743200" y="31821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Unified schema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274320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UTC alignment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2743200" y="37307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DuckDB store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4800600" y="3305556"/>
            <a:ext cx="1828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4818888" y="31958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▶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4983480" y="2615184"/>
            <a:ext cx="21488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Shape 52"/>
          <p:cNvSpPr/>
          <p:nvPr/>
        </p:nvSpPr>
        <p:spPr>
          <a:xfrm>
            <a:off x="4983480" y="2615184"/>
            <a:ext cx="214884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5056632" y="2724912"/>
            <a:ext cx="310896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056632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706624"/>
            <a:ext cx="384048" cy="384048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5422392" y="2724912"/>
            <a:ext cx="1161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AGENTS</a:t>
            </a:r>
            <a:endParaRPr lang="en-US" sz="1100" dirty="0"/>
          </a:p>
        </p:txBody>
      </p:sp>
      <p:sp>
        <p:nvSpPr>
          <p:cNvPr id="65" name="Text 56"/>
          <p:cNvSpPr/>
          <p:nvPr/>
        </p:nvSpPr>
        <p:spPr>
          <a:xfrm>
            <a:off x="5074920" y="31821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Anomaly (z-score/IQR)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507492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Trend (regression)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5074920" y="37307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Threshold · Pattern · Causal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7132320" y="3305556"/>
            <a:ext cx="18288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7150608" y="31958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70" name="Shape 61"/>
          <p:cNvSpPr/>
          <p:nvPr/>
        </p:nvSpPr>
        <p:spPr>
          <a:xfrm>
            <a:off x="7315200" y="2615184"/>
            <a:ext cx="21488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2"/>
          <p:cNvSpPr/>
          <p:nvPr/>
        </p:nvSpPr>
        <p:spPr>
          <a:xfrm>
            <a:off x="7315200" y="2615184"/>
            <a:ext cx="214884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7388352" y="2724912"/>
            <a:ext cx="310896" cy="31089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7388352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0" y="2706624"/>
            <a:ext cx="384048" cy="384048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7754112" y="2724912"/>
            <a:ext cx="1161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CORRELATE</a:t>
            </a:r>
            <a:endParaRPr lang="en-US" sz="1100" dirty="0"/>
          </a:p>
        </p:txBody>
      </p:sp>
      <p:sp>
        <p:nvSpPr>
          <p:cNvPr id="76" name="Text 66"/>
          <p:cNvSpPr/>
          <p:nvPr/>
        </p:nvSpPr>
        <p:spPr>
          <a:xfrm>
            <a:off x="7406640" y="31821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Timeline merge</a:t>
            </a:r>
            <a:endParaRPr lang="en-US" sz="900" dirty="0"/>
          </a:p>
        </p:txBody>
      </p:sp>
      <p:sp>
        <p:nvSpPr>
          <p:cNvPr id="77" name="Text 67"/>
          <p:cNvSpPr/>
          <p:nvPr/>
        </p:nvSpPr>
        <p:spPr>
          <a:xfrm>
            <a:off x="740664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Leading indicator</a:t>
            </a:r>
            <a:endParaRPr lang="en-US" sz="900" dirty="0"/>
          </a:p>
        </p:txBody>
      </p:sp>
      <p:sp>
        <p:nvSpPr>
          <p:cNvPr id="78" name="Text 68"/>
          <p:cNvSpPr/>
          <p:nvPr/>
        </p:nvSpPr>
        <p:spPr>
          <a:xfrm>
            <a:off x="7406640" y="37307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Ranked hypotheses</a:t>
            </a:r>
            <a:endParaRPr lang="en-US" sz="900" dirty="0"/>
          </a:p>
        </p:txBody>
      </p:sp>
      <p:sp>
        <p:nvSpPr>
          <p:cNvPr id="79" name="Shape 69"/>
          <p:cNvSpPr/>
          <p:nvPr/>
        </p:nvSpPr>
        <p:spPr>
          <a:xfrm>
            <a:off x="9464040" y="3305556"/>
            <a:ext cx="182880" cy="3657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9482328" y="31958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B47BC"/>
                </a:solidFill>
              </a:rPr>
              <a:t>▶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>
            <a:off x="9646920" y="2615184"/>
            <a:ext cx="21488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2" name="Shape 72"/>
          <p:cNvSpPr/>
          <p:nvPr/>
        </p:nvSpPr>
        <p:spPr>
          <a:xfrm>
            <a:off x="9646920" y="2615184"/>
            <a:ext cx="21488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9720072" y="2724912"/>
            <a:ext cx="310896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9720072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⑤</a:t>
            </a:r>
            <a:endParaRPr lang="en-US" sz="1200" dirty="0"/>
          </a:p>
        </p:txBody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2840" y="2706624"/>
            <a:ext cx="384048" cy="384048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10085832" y="2724912"/>
            <a:ext cx="1161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87" name="Text 76"/>
          <p:cNvSpPr/>
          <p:nvPr/>
        </p:nvSpPr>
        <p:spPr>
          <a:xfrm>
            <a:off x="9738360" y="31821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Verdict: PASS / FAIL</a:t>
            </a:r>
            <a:endParaRPr lang="en-US" sz="900" dirty="0"/>
          </a:p>
        </p:txBody>
      </p:sp>
      <p:sp>
        <p:nvSpPr>
          <p:cNvPr id="88" name="Text 77"/>
          <p:cNvSpPr/>
          <p:nvPr/>
        </p:nvSpPr>
        <p:spPr>
          <a:xfrm>
            <a:off x="973836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HTML · PDF · Streamlit</a:t>
            </a:r>
            <a:endParaRPr lang="en-US" sz="900" dirty="0"/>
          </a:p>
        </p:txBody>
      </p:sp>
      <p:sp>
        <p:nvSpPr>
          <p:cNvPr id="89" name="Text 78"/>
          <p:cNvSpPr/>
          <p:nvPr/>
        </p:nvSpPr>
        <p:spPr>
          <a:xfrm>
            <a:off x="9738360" y="37307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›  JSON artefacts</a:t>
            </a:r>
            <a:endParaRPr lang="en-US" sz="900" dirty="0"/>
          </a:p>
        </p:txBody>
      </p:sp>
      <p:sp>
        <p:nvSpPr>
          <p:cNvPr id="90" name="Shape 79"/>
          <p:cNvSpPr/>
          <p:nvPr/>
        </p:nvSpPr>
        <p:spPr>
          <a:xfrm>
            <a:off x="10703052" y="4032504"/>
            <a:ext cx="36576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1" name="Text 80"/>
          <p:cNvSpPr/>
          <p:nvPr/>
        </p:nvSpPr>
        <p:spPr>
          <a:xfrm>
            <a:off x="10602468" y="42153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92" name="Text 81"/>
          <p:cNvSpPr/>
          <p:nvPr/>
        </p:nvSpPr>
        <p:spPr>
          <a:xfrm>
            <a:off x="6400800" y="41788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8BA4"/>
                </a:solidFill>
              </a:rPr>
              <a:t>OUTPUTS</a:t>
            </a:r>
            <a:endParaRPr lang="en-US" sz="850" dirty="0"/>
          </a:p>
        </p:txBody>
      </p:sp>
      <p:sp>
        <p:nvSpPr>
          <p:cNvPr id="93" name="Shape 82"/>
          <p:cNvSpPr/>
          <p:nvPr/>
        </p:nvSpPr>
        <p:spPr>
          <a:xfrm>
            <a:off x="6858000" y="4443984"/>
            <a:ext cx="4846320" cy="45720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7662672" y="4434840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5" name="Text 84"/>
          <p:cNvSpPr/>
          <p:nvPr/>
        </p:nvSpPr>
        <p:spPr>
          <a:xfrm>
            <a:off x="756208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96" name="Shape 85"/>
          <p:cNvSpPr/>
          <p:nvPr/>
        </p:nvSpPr>
        <p:spPr>
          <a:xfrm>
            <a:off x="6858000" y="4709160"/>
            <a:ext cx="1600200" cy="932688"/>
          </a:xfrm>
          <a:prstGeom prst="rect">
            <a:avLst/>
          </a:prstGeom>
          <a:solidFill>
            <a:srgbClr val="0D1B2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7" name="Shape 86"/>
          <p:cNvSpPr/>
          <p:nvPr/>
        </p:nvSpPr>
        <p:spPr>
          <a:xfrm>
            <a:off x="6858000" y="4709160"/>
            <a:ext cx="1600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9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728" y="4837176"/>
            <a:ext cx="347472" cy="347472"/>
          </a:xfrm>
          <a:prstGeom prst="rect">
            <a:avLst/>
          </a:prstGeom>
        </p:spPr>
      </p:pic>
      <p:sp>
        <p:nvSpPr>
          <p:cNvPr id="99" name="Text 87"/>
          <p:cNvSpPr/>
          <p:nvPr/>
        </p:nvSpPr>
        <p:spPr>
          <a:xfrm>
            <a:off x="7370064" y="4800600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 UI</a:t>
            </a:r>
            <a:endParaRPr lang="en-US" sz="1050" dirty="0"/>
          </a:p>
        </p:txBody>
      </p:sp>
      <p:sp>
        <p:nvSpPr>
          <p:cNvPr id="100" name="Text 88"/>
          <p:cNvSpPr/>
          <p:nvPr/>
        </p:nvSpPr>
        <p:spPr>
          <a:xfrm>
            <a:off x="7370064" y="511149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BA4"/>
                </a:solidFill>
              </a:rPr>
              <a:t>Upload · Analyse · View</a:t>
            </a:r>
            <a:endParaRPr lang="en-US" sz="850" dirty="0"/>
          </a:p>
        </p:txBody>
      </p:sp>
      <p:sp>
        <p:nvSpPr>
          <p:cNvPr id="101" name="Shape 89"/>
          <p:cNvSpPr/>
          <p:nvPr/>
        </p:nvSpPr>
        <p:spPr>
          <a:xfrm>
            <a:off x="7132320" y="5532120"/>
            <a:ext cx="1051560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2" name="Text 90"/>
          <p:cNvSpPr/>
          <p:nvPr/>
        </p:nvSpPr>
        <p:spPr>
          <a:xfrm>
            <a:off x="7132320" y="55321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103" name="Shape 91"/>
          <p:cNvSpPr/>
          <p:nvPr/>
        </p:nvSpPr>
        <p:spPr>
          <a:xfrm>
            <a:off x="9354312" y="4434840"/>
            <a:ext cx="3657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4" name="Text 92"/>
          <p:cNvSpPr/>
          <p:nvPr/>
        </p:nvSpPr>
        <p:spPr>
          <a:xfrm>
            <a:off x="925372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▼</a:t>
            </a:r>
            <a:endParaRPr lang="en-US" sz="1000" dirty="0"/>
          </a:p>
        </p:txBody>
      </p:sp>
      <p:sp>
        <p:nvSpPr>
          <p:cNvPr id="105" name="Shape 93"/>
          <p:cNvSpPr/>
          <p:nvPr/>
        </p:nvSpPr>
        <p:spPr>
          <a:xfrm>
            <a:off x="8549640" y="4709160"/>
            <a:ext cx="1600200" cy="932688"/>
          </a:xfrm>
          <a:prstGeom prst="rect">
            <a:avLst/>
          </a:prstGeom>
          <a:solidFill>
            <a:srgbClr val="0D1B2A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6" name="Shape 94"/>
          <p:cNvSpPr/>
          <p:nvPr/>
        </p:nvSpPr>
        <p:spPr>
          <a:xfrm>
            <a:off x="8549640" y="4709160"/>
            <a:ext cx="1600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0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9368" y="4837176"/>
            <a:ext cx="347472" cy="347472"/>
          </a:xfrm>
          <a:prstGeom prst="rect">
            <a:avLst/>
          </a:prstGeom>
        </p:spPr>
      </p:pic>
      <p:sp>
        <p:nvSpPr>
          <p:cNvPr id="108" name="Text 95"/>
          <p:cNvSpPr/>
          <p:nvPr/>
        </p:nvSpPr>
        <p:spPr>
          <a:xfrm>
            <a:off x="9061704" y="4800600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 Report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9061704" y="511149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BA4"/>
                </a:solidFill>
              </a:rPr>
              <a:t>Dark-theme · In-browser</a:t>
            </a:r>
            <a:endParaRPr lang="en-US" sz="850" dirty="0"/>
          </a:p>
        </p:txBody>
      </p:sp>
      <p:sp>
        <p:nvSpPr>
          <p:cNvPr id="110" name="Shape 97"/>
          <p:cNvSpPr/>
          <p:nvPr/>
        </p:nvSpPr>
        <p:spPr>
          <a:xfrm>
            <a:off x="11045952" y="4434840"/>
            <a:ext cx="36576" cy="274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1" name="Text 98"/>
          <p:cNvSpPr/>
          <p:nvPr/>
        </p:nvSpPr>
        <p:spPr>
          <a:xfrm>
            <a:off x="1094536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8E5"/>
                </a:solidFill>
              </a:rPr>
              <a:t>▼</a:t>
            </a:r>
            <a:endParaRPr lang="en-US" sz="1000" dirty="0"/>
          </a:p>
        </p:txBody>
      </p:sp>
      <p:sp>
        <p:nvSpPr>
          <p:cNvPr id="112" name="Shape 99"/>
          <p:cNvSpPr/>
          <p:nvPr/>
        </p:nvSpPr>
        <p:spPr>
          <a:xfrm>
            <a:off x="10241280" y="4709160"/>
            <a:ext cx="1600200" cy="932688"/>
          </a:xfrm>
          <a:prstGeom prst="rect">
            <a:avLst/>
          </a:prstGeom>
          <a:solidFill>
            <a:srgbClr val="0D1B2A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3" name="Shape 100"/>
          <p:cNvSpPr/>
          <p:nvPr/>
        </p:nvSpPr>
        <p:spPr>
          <a:xfrm>
            <a:off x="10241280" y="4709160"/>
            <a:ext cx="1600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1008" y="4837176"/>
            <a:ext cx="347472" cy="347472"/>
          </a:xfrm>
          <a:prstGeom prst="rect">
            <a:avLst/>
          </a:prstGeom>
        </p:spPr>
      </p:pic>
      <p:sp>
        <p:nvSpPr>
          <p:cNvPr id="115" name="Text 101"/>
          <p:cNvSpPr/>
          <p:nvPr/>
        </p:nvSpPr>
        <p:spPr>
          <a:xfrm>
            <a:off x="10753344" y="4800600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Report</a:t>
            </a:r>
            <a:endParaRPr lang="en-US" sz="1050" dirty="0"/>
          </a:p>
        </p:txBody>
      </p:sp>
      <p:sp>
        <p:nvSpPr>
          <p:cNvPr id="116" name="Text 102"/>
          <p:cNvSpPr/>
          <p:nvPr/>
        </p:nvSpPr>
        <p:spPr>
          <a:xfrm>
            <a:off x="10753344" y="511149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BA4"/>
                </a:solidFill>
              </a:rPr>
              <a:t>xhtml2pdf · Email-ready</a:t>
            </a:r>
            <a:endParaRPr lang="en-US" sz="850" dirty="0"/>
          </a:p>
        </p:txBody>
      </p:sp>
      <p:sp>
        <p:nvSpPr>
          <p:cNvPr id="117" name="Text 103"/>
          <p:cNvSpPr/>
          <p:nvPr/>
        </p:nvSpPr>
        <p:spPr>
          <a:xfrm>
            <a:off x="320040" y="41788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8BA4"/>
                </a:solidFill>
              </a:rPr>
              <a:t>DATA STORES</a:t>
            </a:r>
            <a:endParaRPr lang="en-US" sz="850" dirty="0"/>
          </a:p>
        </p:txBody>
      </p:sp>
      <p:sp>
        <p:nvSpPr>
          <p:cNvPr id="118" name="Shape 104"/>
          <p:cNvSpPr/>
          <p:nvPr/>
        </p:nvSpPr>
        <p:spPr>
          <a:xfrm>
            <a:off x="1124712" y="4434840"/>
            <a:ext cx="36576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9" name="Text 105"/>
          <p:cNvSpPr/>
          <p:nvPr/>
        </p:nvSpPr>
        <p:spPr>
          <a:xfrm>
            <a:off x="102412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▼</a:t>
            </a:r>
            <a:endParaRPr lang="en-US" sz="1000" dirty="0"/>
          </a:p>
        </p:txBody>
      </p:sp>
      <p:sp>
        <p:nvSpPr>
          <p:cNvPr id="120" name="Shape 106"/>
          <p:cNvSpPr/>
          <p:nvPr/>
        </p:nvSpPr>
        <p:spPr>
          <a:xfrm>
            <a:off x="320040" y="4709160"/>
            <a:ext cx="1737360" cy="804672"/>
          </a:xfrm>
          <a:prstGeom prst="rect">
            <a:avLst/>
          </a:prstGeom>
          <a:solidFill>
            <a:srgbClr val="1C2D3F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1" name="Text 107"/>
          <p:cNvSpPr/>
          <p:nvPr/>
        </p:nvSpPr>
        <p:spPr>
          <a:xfrm>
            <a:off x="411480" y="47640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DuckDB</a:t>
            </a:r>
            <a:endParaRPr lang="en-US" sz="1000" dirty="0"/>
          </a:p>
        </p:txBody>
      </p:sp>
      <p:sp>
        <p:nvSpPr>
          <p:cNvPr id="122" name="Text 108"/>
          <p:cNvSpPr/>
          <p:nvPr/>
        </p:nvSpPr>
        <p:spPr>
          <a:xfrm>
            <a:off x="411480" y="50200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BA4"/>
                </a:solidFill>
              </a:rPr>
              <a:t>/tmp/pt_pipeline.duckdb</a:t>
            </a:r>
            <a:endParaRPr lang="en-US" sz="850" dirty="0"/>
          </a:p>
        </p:txBody>
      </p:sp>
      <p:sp>
        <p:nvSpPr>
          <p:cNvPr id="123" name="Shape 109"/>
          <p:cNvSpPr/>
          <p:nvPr/>
        </p:nvSpPr>
        <p:spPr>
          <a:xfrm>
            <a:off x="3227832" y="4434840"/>
            <a:ext cx="3657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4" name="Text 110"/>
          <p:cNvSpPr/>
          <p:nvPr/>
        </p:nvSpPr>
        <p:spPr>
          <a:xfrm>
            <a:off x="312724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▼</a:t>
            </a:r>
            <a:endParaRPr lang="en-US" sz="1000" dirty="0"/>
          </a:p>
        </p:txBody>
      </p:sp>
      <p:sp>
        <p:nvSpPr>
          <p:cNvPr id="125" name="Shape 111"/>
          <p:cNvSpPr/>
          <p:nvPr/>
        </p:nvSpPr>
        <p:spPr>
          <a:xfrm>
            <a:off x="2423160" y="4709160"/>
            <a:ext cx="1737360" cy="804672"/>
          </a:xfrm>
          <a:prstGeom prst="rect">
            <a:avLst/>
          </a:prstGeom>
          <a:solidFill>
            <a:srgbClr val="1C2D3F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6" name="Text 112"/>
          <p:cNvSpPr/>
          <p:nvPr/>
        </p:nvSpPr>
        <p:spPr>
          <a:xfrm>
            <a:off x="2514600" y="47640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rca_result.json</a:t>
            </a:r>
            <a:endParaRPr lang="en-US" sz="1000" dirty="0"/>
          </a:p>
        </p:txBody>
      </p:sp>
      <p:sp>
        <p:nvSpPr>
          <p:cNvPr id="127" name="Text 113"/>
          <p:cNvSpPr/>
          <p:nvPr/>
        </p:nvSpPr>
        <p:spPr>
          <a:xfrm>
            <a:off x="2514600" y="50200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BA4"/>
                </a:solidFill>
              </a:rPr>
              <a:t>output/ folder</a:t>
            </a:r>
            <a:endParaRPr lang="en-US" sz="850" dirty="0"/>
          </a:p>
        </p:txBody>
      </p:sp>
      <p:sp>
        <p:nvSpPr>
          <p:cNvPr id="128" name="Text 114"/>
          <p:cNvSpPr/>
          <p:nvPr/>
        </p:nvSpPr>
        <p:spPr>
          <a:xfrm>
            <a:off x="32004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BA4"/>
                </a:solidFill>
              </a:rPr>
              <a:t>github.com/sharmp44/PT_AILog_Analyser</a:t>
            </a:r>
            <a:endParaRPr lang="en-US" sz="900" dirty="0"/>
          </a:p>
        </p:txBody>
      </p:sp>
      <p:sp>
        <p:nvSpPr>
          <p:cNvPr id="129" name="Text 115"/>
          <p:cNvSpPr/>
          <p:nvPr/>
        </p:nvSpPr>
        <p:spPr>
          <a:xfrm>
            <a:off x="7772400" y="65836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BA4"/>
                </a:solidFill>
              </a:rPr>
              <a:t>v2.0  ·  SQL Server · Streamlit UI · GitHub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AI Log Mining – Pipeline Architecture</dc:title>
  <dc:subject>PptxGenJS Presentation</dc:subject>
  <dc:creator>PptxGenJS</dc:creator>
  <cp:lastModifiedBy>PptxGenJS</cp:lastModifiedBy>
  <cp:revision>1</cp:revision>
  <dcterms:created xsi:type="dcterms:W3CDTF">2026-06-20T07:47:27Z</dcterms:created>
  <dcterms:modified xsi:type="dcterms:W3CDTF">2026-06-20T07:47:27Z</dcterms:modified>
</cp:coreProperties>
</file>