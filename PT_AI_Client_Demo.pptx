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client. This deck covers the PT AI Log Mining pipeline — what it does, how it works, live results, and next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manual pain. Validate with the client — ask how long their team spends on RCA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this as a force-multiplier for the client's PT team — not replacing engineers, but removing the drudgery.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stage. Emphasize that the pipeline runs end-to-end without manual intervention — just drop logs and get a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four agents run in parallel. The causal agent receives all their outputs and writes the RCA narrative. Ask the client which failure type causes them the most pain.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actual smoke-test run (run_id ab00ed66). All injected failures were caught. Walk through the HTML report if screen-sharing.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on the 40% RCA time reduction — that's the headline ROI. Ask the client what their current RCA cost per test cycle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asking for a commitment on the pilot. Suggest they pick a recent failed test run as the first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1B7F9E">
              <a:alpha val="22000"/>
            </a:srgbClr>
          </a:solidFill>
          <a:ln w="12700">
            <a:solidFill>
              <a:srgbClr val="1B7F9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2286000"/>
            <a:ext cx="2743200" cy="2743200"/>
          </a:xfrm>
          <a:prstGeom prst="ellipse">
            <a:avLst/>
          </a:prstGeom>
          <a:solidFill>
            <a:srgbClr val="5BC8E8">
              <a:alpha val="15000"/>
            </a:srgbClr>
          </a:solidFill>
          <a:ln w="12700">
            <a:solidFill>
              <a:srgbClr val="5BC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C8E8"/>
                </a:solidFill>
              </a:rPr>
              <a:t>CLIENT DEMO  · 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PT AI Log Mining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A8C8D8"/>
                </a:solidFill>
              </a:rPr>
              <a:t>Intelligent Root Cause Analysis for Performance Testing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2011680" cy="45720"/>
          </a:xfrm>
          <a:prstGeom prst="rect">
            <a:avLst/>
          </a:prstGeom>
          <a:solidFill>
            <a:srgbClr val="5BC8E8"/>
          </a:solidFill>
          <a:ln w="12700">
            <a:solidFill>
              <a:srgbClr val="5BC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566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8D8"/>
                </a:solidFill>
              </a:rPr>
              <a:t>Presented by  Pankaj Kumar  ·  Performance Engineering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28016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A2342"/>
                </a:solidFill>
              </a:rPr>
              <a:t>Manual RCA from performance logs is slow, inconsistent, and expensive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2743200" cy="3017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342"/>
                </a:solidFill>
              </a:rPr>
              <a:t>Hours of Manual Work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2880360"/>
            <a:ext cx="24871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6B"/>
                </a:solidFill>
              </a:rPr>
              <a:t>Engineers sift through thousands of log lines across BLG, IIS, and LoadRunner files — often taking 4–8 hours per test run.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46120" y="1600200"/>
            <a:ext cx="2743200" cy="3017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78308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83280" y="2377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342"/>
                </a:solidFill>
              </a:rPr>
              <a:t>Missed Root Causes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383280" y="2880360"/>
            <a:ext cx="24871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6B"/>
                </a:solidFill>
              </a:rPr>
              <a:t>Siloed tool views mean correlated failures go undetected. A backend memory spike causing IIS errors is easy to miss.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126480" y="1600200"/>
            <a:ext cx="2743200" cy="3017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78308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63640" y="2377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342"/>
                </a:solidFill>
              </a:rPr>
              <a:t>Inconsistent Reporting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263640" y="2880360"/>
            <a:ext cx="24871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6B"/>
                </a:solidFill>
              </a:rPr>
              <a:t>Each engineer produces a different report format. Findings are hard to compare across runs or share with clients.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8C8D8"/>
                </a:solidFill>
              </a:rPr>
              <a:t>An end-to-end AI pipeline that ingests, correlates, and explains performance failures automatically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55448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132D4A"/>
          </a:solidFill>
          <a:ln w="12700">
            <a:solidFill>
              <a:srgbClr val="1B7F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002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BC8E8"/>
                </a:solidFill>
              </a:rPr>
              <a:t>40%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2377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C8D8"/>
                </a:solidFill>
              </a:rPr>
              <a:t>Faster RCA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24328" y="155448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132D4A"/>
          </a:solidFill>
          <a:ln w="12700">
            <a:solidFill>
              <a:srgbClr val="1B7F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24328" y="16002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BC8E8"/>
                </a:solidFill>
              </a:rPr>
              <a:t>5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624328" y="2377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C8D8"/>
                </a:solidFill>
              </a:rPr>
              <a:t>AI Agents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73752" y="155448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132D4A"/>
          </a:solidFill>
          <a:ln w="12700">
            <a:solidFill>
              <a:srgbClr val="1B7F9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16002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BC8E8"/>
                </a:solidFill>
              </a:rPr>
              <a:t>3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873752" y="2377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C8D8"/>
                </a:solidFill>
              </a:rPr>
              <a:t>Log Sources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132320" y="155448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132D4A"/>
          </a:solidFill>
          <a:ln w="12700">
            <a:solidFill>
              <a:srgbClr val="1B7F9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0" y="16002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BC8E8"/>
                </a:solidFill>
              </a:rPr>
              <a:t>100%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7132320" y="2377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C8D8"/>
                </a:solidFill>
              </a:rPr>
              <a:t>Automated Report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108960"/>
            <a:ext cx="8412480" cy="1554480"/>
          </a:xfrm>
          <a:prstGeom prst="roundRect">
            <a:avLst>
              <a:gd name="adj" fmla="val 5882"/>
            </a:avLst>
          </a:prstGeom>
          <a:solidFill>
            <a:srgbClr val="132D4A"/>
          </a:solidFill>
          <a:ln w="12700">
            <a:solidFill>
              <a:srgbClr val="132D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2004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C8E8"/>
                </a:solidFill>
              </a:rPr>
              <a:t>PT AI Log Mining</a:t>
            </a:r>
            <a:pPr indent="0" marL="0">
              <a:buNone/>
            </a:pPr>
            <a:r>
              <a:rPr lang="en-US" sz="1400" dirty="0">
                <a:solidFill>
                  <a:srgbClr val="E8F4F8"/>
                </a:solidFill>
              </a:rPr>
              <a:t> automatically ingests Windows Performance Monitor (.BLG), IIS web server logs, and LoadRunner results. </a:t>
            </a:r>
            <a:pPr indent="0" marL="0">
              <a:buNone/>
            </a:pPr>
            <a:r>
              <a:rPr lang="en-US" sz="1400" b="1" dirty="0">
                <a:solidFill>
                  <a:srgbClr val="5BC8E8"/>
                </a:solidFill>
              </a:rPr>
              <a:t>Five specialized AI agents</a:t>
            </a:r>
            <a:pPr indent="0" marL="0">
              <a:buNone/>
            </a:pPr>
            <a:r>
              <a:rPr lang="en-US" sz="1400" dirty="0">
                <a:solidFill>
                  <a:srgbClr val="E8F4F8"/>
                </a:solidFill>
              </a:rPr>
              <a:t> detect anomalies, trends, threshold breaches, and patterns — then a causal reasoning agent produces a plain-English Root Cause Analysis with a PDF report in seconds.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1463040" cy="3611880"/>
          </a:xfrm>
          <a:prstGeom prst="roundRect">
            <a:avLst>
              <a:gd name="adj" fmla="val 7500"/>
            </a:avLst>
          </a:prstGeom>
          <a:solidFill>
            <a:srgbClr val="0A2342"/>
          </a:solidFill>
          <a:ln w="19050">
            <a:solidFill>
              <a:srgbClr val="1B7F9E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188720"/>
            <a:ext cx="694944" cy="694944"/>
          </a:xfrm>
          <a:prstGeom prst="ellipse">
            <a:avLst/>
          </a:prstGeom>
          <a:solidFill>
            <a:srgbClr val="1B7F9E"/>
          </a:solidFill>
          <a:ln w="12700">
            <a:solidFill>
              <a:srgbClr val="1B7F9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61872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20116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5BC8E8"/>
                </a:solidFill>
              </a:rPr>
              <a:t>INGEST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" y="2450592"/>
            <a:ext cx="1097280" cy="22860"/>
          </a:xfrm>
          <a:prstGeom prst="rect">
            <a:avLst/>
          </a:prstGeom>
          <a:solidFill>
            <a:srgbClr val="1B7F9E">
              <a:alpha val="50000"/>
            </a:srgbClr>
          </a:solidFill>
          <a:ln w="12700">
            <a:solidFill>
              <a:srgbClr val="1B7F9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2514600"/>
            <a:ext cx="1280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F4F8"/>
                </a:solidFill>
              </a:rPr>
              <a:t>BLG · IIS · LoadRunner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8F4F8"/>
                </a:solidFill>
              </a:rPr>
              <a:t>File watcher (auto)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1819656" y="2788920"/>
            <a:ext cx="274320" cy="0"/>
          </a:xfrm>
          <a:prstGeom prst="line">
            <a:avLst/>
          </a:prstGeom>
          <a:noFill/>
          <a:ln w="31750">
            <a:solidFill>
              <a:srgbClr val="5BC8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020824" y="2743200"/>
            <a:ext cx="109728" cy="91440"/>
          </a:xfrm>
          <a:prstGeom prst="rect">
            <a:avLst/>
          </a:prstGeom>
          <a:solidFill>
            <a:srgbClr val="5BC8E8"/>
          </a:solidFill>
          <a:ln w="12700">
            <a:solidFill>
              <a:srgbClr val="5BC8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30552" y="1005840"/>
            <a:ext cx="1463040" cy="3611880"/>
          </a:xfrm>
          <a:prstGeom prst="roundRect">
            <a:avLst>
              <a:gd name="adj" fmla="val 7500"/>
            </a:avLst>
          </a:prstGeom>
          <a:solidFill>
            <a:srgbClr val="0A2342"/>
          </a:solidFill>
          <a:ln w="19050">
            <a:solidFill>
              <a:srgbClr val="1B7F9E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514600" y="1188720"/>
            <a:ext cx="694944" cy="694944"/>
          </a:xfrm>
          <a:prstGeom prst="ellipse">
            <a:avLst/>
          </a:prstGeom>
          <a:solidFill>
            <a:srgbClr val="1B7F9E"/>
          </a:solidFill>
          <a:ln w="12700">
            <a:solidFill>
              <a:srgbClr val="1B7F9E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752" y="1261872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176272" y="20116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5BC8E8"/>
                </a:solidFill>
              </a:rPr>
              <a:t>PARSE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2313432" y="2450592"/>
            <a:ext cx="1097280" cy="22860"/>
          </a:xfrm>
          <a:prstGeom prst="rect">
            <a:avLst/>
          </a:prstGeom>
          <a:solidFill>
            <a:srgbClr val="1B7F9E">
              <a:alpha val="50000"/>
            </a:srgbClr>
          </a:solidFill>
          <a:ln w="12700">
            <a:solidFill>
              <a:srgbClr val="1B7F9E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221992" y="2514600"/>
            <a:ext cx="1280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F4F8"/>
                </a:solidFill>
              </a:rPr>
              <a:t>Normalise · Tag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8F4F8"/>
                </a:solidFill>
              </a:rPr>
              <a:t>Store → DuckDB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3630168" y="2788920"/>
            <a:ext cx="274320" cy="0"/>
          </a:xfrm>
          <a:prstGeom prst="line">
            <a:avLst/>
          </a:prstGeom>
          <a:noFill/>
          <a:ln w="31750">
            <a:solidFill>
              <a:srgbClr val="5BC8E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831336" y="2743200"/>
            <a:ext cx="109728" cy="91440"/>
          </a:xfrm>
          <a:prstGeom prst="rect">
            <a:avLst/>
          </a:prstGeom>
          <a:solidFill>
            <a:srgbClr val="5BC8E8"/>
          </a:solidFill>
          <a:ln w="12700">
            <a:solidFill>
              <a:srgbClr val="5BC8E8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941064" y="1005840"/>
            <a:ext cx="1463040" cy="3611880"/>
          </a:xfrm>
          <a:prstGeom prst="roundRect">
            <a:avLst>
              <a:gd name="adj" fmla="val 7500"/>
            </a:avLst>
          </a:prstGeom>
          <a:solidFill>
            <a:srgbClr val="0A2342"/>
          </a:solidFill>
          <a:ln w="19050">
            <a:solidFill>
              <a:srgbClr val="1B7F9E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325112" y="1188720"/>
            <a:ext cx="694944" cy="694944"/>
          </a:xfrm>
          <a:prstGeom prst="ellipse">
            <a:avLst/>
          </a:prstGeom>
          <a:solidFill>
            <a:srgbClr val="1B7F9E"/>
          </a:solidFill>
          <a:ln w="12700">
            <a:solidFill>
              <a:srgbClr val="1B7F9E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8264" y="1261872"/>
            <a:ext cx="548640" cy="5486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986784" y="20116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5BC8E8"/>
                </a:solidFill>
              </a:rPr>
              <a:t>AI AGENTS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4123944" y="2450592"/>
            <a:ext cx="1097280" cy="22860"/>
          </a:xfrm>
          <a:prstGeom prst="rect">
            <a:avLst/>
          </a:prstGeom>
          <a:solidFill>
            <a:srgbClr val="1B7F9E">
              <a:alpha val="50000"/>
            </a:srgbClr>
          </a:solidFill>
          <a:ln w="12700">
            <a:solidFill>
              <a:srgbClr val="1B7F9E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032504" y="2514600"/>
            <a:ext cx="1280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F4F8"/>
                </a:solidFill>
              </a:rPr>
              <a:t>Anomaly · Trend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8F4F8"/>
                </a:solidFill>
              </a:rPr>
              <a:t>Threshold · Pattern · Causal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5440680" y="2788920"/>
            <a:ext cx="274320" cy="0"/>
          </a:xfrm>
          <a:prstGeom prst="line">
            <a:avLst/>
          </a:prstGeom>
          <a:noFill/>
          <a:ln w="31750">
            <a:solidFill>
              <a:srgbClr val="5BC8E8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641848" y="2743200"/>
            <a:ext cx="109728" cy="91440"/>
          </a:xfrm>
          <a:prstGeom prst="rect">
            <a:avLst/>
          </a:prstGeom>
          <a:solidFill>
            <a:srgbClr val="5BC8E8"/>
          </a:solidFill>
          <a:ln w="12700">
            <a:solidFill>
              <a:srgbClr val="5BC8E8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5751576" y="1005840"/>
            <a:ext cx="1463040" cy="3611880"/>
          </a:xfrm>
          <a:prstGeom prst="roundRect">
            <a:avLst>
              <a:gd name="adj" fmla="val 7500"/>
            </a:avLst>
          </a:prstGeom>
          <a:solidFill>
            <a:srgbClr val="0A2342"/>
          </a:solidFill>
          <a:ln w="19050">
            <a:solidFill>
              <a:srgbClr val="1B7F9E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135624" y="1188720"/>
            <a:ext cx="694944" cy="694944"/>
          </a:xfrm>
          <a:prstGeom prst="ellipse">
            <a:avLst/>
          </a:prstGeom>
          <a:solidFill>
            <a:srgbClr val="1B7F9E"/>
          </a:solidFill>
          <a:ln w="12700">
            <a:solidFill>
              <a:srgbClr val="1B7F9E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8776" y="1261872"/>
            <a:ext cx="548640" cy="54864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797296" y="20116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5BC8E8"/>
                </a:solidFill>
              </a:rPr>
              <a:t>CORRELATE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5934456" y="2450592"/>
            <a:ext cx="1097280" cy="22860"/>
          </a:xfrm>
          <a:prstGeom prst="rect">
            <a:avLst/>
          </a:prstGeom>
          <a:solidFill>
            <a:srgbClr val="1B7F9E">
              <a:alpha val="50000"/>
            </a:srgbClr>
          </a:solidFill>
          <a:ln w="12700">
            <a:solidFill>
              <a:srgbClr val="1B7F9E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5843016" y="2514600"/>
            <a:ext cx="1280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F4F8"/>
                </a:solidFill>
              </a:rPr>
              <a:t>Timeline merge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8F4F8"/>
                </a:solidFill>
              </a:rPr>
              <a:t>RCA scoring</a:t>
            </a:r>
            <a:endParaRPr lang="en-US" sz="1150" dirty="0"/>
          </a:p>
        </p:txBody>
      </p:sp>
      <p:sp>
        <p:nvSpPr>
          <p:cNvPr id="34" name="Shape 28"/>
          <p:cNvSpPr/>
          <p:nvPr/>
        </p:nvSpPr>
        <p:spPr>
          <a:xfrm>
            <a:off x="7251192" y="2788920"/>
            <a:ext cx="274320" cy="0"/>
          </a:xfrm>
          <a:prstGeom prst="line">
            <a:avLst/>
          </a:prstGeom>
          <a:noFill/>
          <a:ln w="31750">
            <a:solidFill>
              <a:srgbClr val="5BC8E8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7452360" y="2743200"/>
            <a:ext cx="109728" cy="91440"/>
          </a:xfrm>
          <a:prstGeom prst="rect">
            <a:avLst/>
          </a:prstGeom>
          <a:solidFill>
            <a:srgbClr val="5BC8E8"/>
          </a:solidFill>
          <a:ln w="12700">
            <a:solidFill>
              <a:srgbClr val="5BC8E8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7562088" y="1005840"/>
            <a:ext cx="1463040" cy="3611880"/>
          </a:xfrm>
          <a:prstGeom prst="roundRect">
            <a:avLst>
              <a:gd name="adj" fmla="val 7500"/>
            </a:avLst>
          </a:prstGeom>
          <a:solidFill>
            <a:srgbClr val="0A2342"/>
          </a:solidFill>
          <a:ln w="19050">
            <a:solidFill>
              <a:srgbClr val="1B7F9E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7946136" y="1188720"/>
            <a:ext cx="694944" cy="694944"/>
          </a:xfrm>
          <a:prstGeom prst="ellipse">
            <a:avLst/>
          </a:prstGeom>
          <a:solidFill>
            <a:srgbClr val="1B7F9E"/>
          </a:solidFill>
          <a:ln w="12700">
            <a:solidFill>
              <a:srgbClr val="1B7F9E"/>
            </a:solidFill>
            <a:prstDash val="solid"/>
          </a:ln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9288" y="1261872"/>
            <a:ext cx="548640" cy="54864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7607808" y="20116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5BC8E8"/>
                </a:solidFill>
              </a:rPr>
              <a:t>REPORT</a:t>
            </a:r>
            <a:endParaRPr lang="en-US" sz="1200" dirty="0"/>
          </a:p>
        </p:txBody>
      </p:sp>
      <p:sp>
        <p:nvSpPr>
          <p:cNvPr id="40" name="Shape 33"/>
          <p:cNvSpPr/>
          <p:nvPr/>
        </p:nvSpPr>
        <p:spPr>
          <a:xfrm>
            <a:off x="7744968" y="2450592"/>
            <a:ext cx="1097280" cy="22860"/>
          </a:xfrm>
          <a:prstGeom prst="rect">
            <a:avLst/>
          </a:prstGeom>
          <a:solidFill>
            <a:srgbClr val="1B7F9E">
              <a:alpha val="50000"/>
            </a:srgbClr>
          </a:solidFill>
          <a:ln w="12700">
            <a:solidFill>
              <a:srgbClr val="1B7F9E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7653528" y="2514600"/>
            <a:ext cx="1280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F4F8"/>
                </a:solidFill>
              </a:rPr>
              <a:t>HTML dashboard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8F4F8"/>
                </a:solidFill>
              </a:rPr>
              <a:t>PDF export</a:t>
            </a:r>
            <a:endParaRPr lang="en-US" sz="1150" dirty="0"/>
          </a:p>
        </p:txBody>
      </p:sp>
      <p:sp>
        <p:nvSpPr>
          <p:cNvPr id="42" name="Text 35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B7F9E"/>
                </a:solidFill>
              </a:rPr>
              <a:t>Fully automated · Watch-mode auto-triggers on new log drop · Results in seconds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AGENTS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8C8D8"/>
                </a:solidFill>
              </a:rPr>
              <a:t>Five specialized agents analyse every dimension of a performance failure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132D4A"/>
          </a:solidFill>
          <a:ln w="12700">
            <a:solidFill>
              <a:srgbClr val="1B7F9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35608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C8E8"/>
                </a:solidFill>
              </a:rPr>
              <a:t>Anomaly Agent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51560" y="16733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8C8D8"/>
                </a:solidFill>
              </a:rPr>
              <a:t>Z-score · IQR · IsolationForest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3383280" y="1444752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Detects statistical outliers in any metric — CPU spikes, memory surges, latency blowups.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65760" y="1993392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132D4A"/>
          </a:solidFill>
          <a:ln w="12700">
            <a:solidFill>
              <a:srgbClr val="1B7F9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57400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51560" y="20391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C8E8"/>
                </a:solidFill>
              </a:rPr>
              <a:t>Trend Agent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051560" y="229514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8C8D8"/>
                </a:solidFill>
              </a:rPr>
              <a:t>Linear Regression (statsmodels)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3383280" y="2066544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Identifies sustained degradation over time, not just point-in-time spikes.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65760" y="2615184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132D4A"/>
          </a:solidFill>
          <a:ln w="12700">
            <a:solidFill>
              <a:srgbClr val="1B7F9E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679192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51560" y="26609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C8E8"/>
                </a:solidFill>
              </a:rPr>
              <a:t>Threshold Agent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051560" y="291693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8C8D8"/>
                </a:solidFill>
              </a:rPr>
              <a:t>Configurable Rule Engine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3383280" y="2688336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Fires on breach of defined SLO limits — p95 response time, error rate, throughput.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365760" y="3236976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132D4A"/>
          </a:solidFill>
          <a:ln w="12700">
            <a:solidFill>
              <a:srgbClr val="1B7F9E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300984"/>
            <a:ext cx="402336" cy="40233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51560" y="32826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C8E8"/>
                </a:solidFill>
              </a:rPr>
              <a:t>Pattern Agent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1051560" y="35387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8C8D8"/>
                </a:solidFill>
              </a:rPr>
              <a:t>Regex + OpenAI LLM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3383280" y="3310128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Recognises known failure signatures in log text and surfaces matching known issues.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365760" y="3858768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132D4A"/>
          </a:solidFill>
          <a:ln w="12700">
            <a:solidFill>
              <a:srgbClr val="1B7F9E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922776"/>
            <a:ext cx="402336" cy="40233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51560" y="39044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C8E8"/>
                </a:solidFill>
              </a:rPr>
              <a:t>Causal Agent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1051560" y="41605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8C8D8"/>
                </a:solidFill>
              </a:rPr>
              <a:t>OpenAI GPT-4 reasoning</a:t>
            </a:r>
            <a:endParaRPr lang="en-US" sz="950" dirty="0"/>
          </a:p>
        </p:txBody>
      </p:sp>
      <p:sp>
        <p:nvSpPr>
          <p:cNvPr id="28" name="Text 21"/>
          <p:cNvSpPr/>
          <p:nvPr/>
        </p:nvSpPr>
        <p:spPr>
          <a:xfrm>
            <a:off x="3383280" y="3931920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Synthesises all agent signals into a prioritised root-cause narrative with confidence score.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RUN RESULTS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7F9E"/>
                </a:solidFill>
              </a:rPr>
              <a:t>Smoke test on synthetic PT logs — injected CPU/memory spikes + IIS errors + LR failures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58191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342"/>
                </a:solidFill>
              </a:rPr>
              <a:t>4,196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143000" y="22585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6B"/>
                </a:solidFill>
              </a:rPr>
              <a:t>Events Ingested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46120" y="141732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64592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023360" y="158191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342"/>
                </a:solidFill>
              </a:rPr>
              <a:t>18</a:t>
            </a:r>
            <a:endParaRPr lang="en-US" sz="3000" dirty="0"/>
          </a:p>
        </p:txBody>
      </p:sp>
      <p:sp>
        <p:nvSpPr>
          <p:cNvPr id="12" name="Text 8"/>
          <p:cNvSpPr/>
          <p:nvPr/>
        </p:nvSpPr>
        <p:spPr>
          <a:xfrm>
            <a:off x="4023360" y="22585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6B"/>
                </a:solidFill>
              </a:rPr>
              <a:t>Metrics Analysed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126480" y="141732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4592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03720" y="158191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342"/>
                </a:solidFill>
              </a:rPr>
              <a:t>252</a:t>
            </a:r>
            <a:endParaRPr lang="en-US" sz="3000" dirty="0"/>
          </a:p>
        </p:txBody>
      </p:sp>
      <p:sp>
        <p:nvSpPr>
          <p:cNvPr id="16" name="Text 11"/>
          <p:cNvSpPr/>
          <p:nvPr/>
        </p:nvSpPr>
        <p:spPr>
          <a:xfrm>
            <a:off x="6903720" y="22585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6B"/>
                </a:solidFill>
              </a:rPr>
              <a:t>Anomalies Found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365760" y="306324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291840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43000" y="322783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342"/>
                </a:solidFill>
              </a:rPr>
              <a:t>3</a:t>
            </a:r>
            <a:endParaRPr lang="en-US" sz="3000" dirty="0"/>
          </a:p>
        </p:txBody>
      </p:sp>
      <p:sp>
        <p:nvSpPr>
          <p:cNvPr id="20" name="Text 14"/>
          <p:cNvSpPr/>
          <p:nvPr/>
        </p:nvSpPr>
        <p:spPr>
          <a:xfrm>
            <a:off x="1143000" y="390448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6B"/>
                </a:solidFill>
              </a:rPr>
              <a:t>Trend Degradations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3246120" y="306324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3291840"/>
            <a:ext cx="502920" cy="5029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023360" y="322783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342"/>
                </a:solidFill>
              </a:rPr>
              <a:t>5</a:t>
            </a:r>
            <a:endParaRPr lang="en-US" sz="3000" dirty="0"/>
          </a:p>
        </p:txBody>
      </p:sp>
      <p:sp>
        <p:nvSpPr>
          <p:cNvPr id="24" name="Text 17"/>
          <p:cNvSpPr/>
          <p:nvPr/>
        </p:nvSpPr>
        <p:spPr>
          <a:xfrm>
            <a:off x="4023360" y="390448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6B"/>
                </a:solidFill>
              </a:rPr>
              <a:t>SLO Breaches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6126480" y="306324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3291840"/>
            <a:ext cx="502920" cy="5029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903720" y="322783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342"/>
                </a:solidFill>
              </a:rPr>
              <a:t>1</a:t>
            </a:r>
            <a:endParaRPr lang="en-US" sz="3000" dirty="0"/>
          </a:p>
        </p:txBody>
      </p:sp>
      <p:sp>
        <p:nvSpPr>
          <p:cNvPr id="28" name="Text 20"/>
          <p:cNvSpPr/>
          <p:nvPr/>
        </p:nvSpPr>
        <p:spPr>
          <a:xfrm>
            <a:off x="6903720" y="390448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6B"/>
                </a:solidFill>
              </a:rPr>
              <a:t>Pattern Matched</a:t>
            </a:r>
            <a:endParaRPr lang="en-US" sz="1200" dirty="0"/>
          </a:p>
        </p:txBody>
      </p:sp>
      <p:sp>
        <p:nvSpPr>
          <p:cNvPr id="29" name="Shape 21"/>
          <p:cNvSpPr/>
          <p:nvPr/>
        </p:nvSpPr>
        <p:spPr>
          <a:xfrm>
            <a:off x="2286000" y="4663440"/>
            <a:ext cx="4572000" cy="365760"/>
          </a:xfrm>
          <a:prstGeom prst="roundRect">
            <a:avLst>
              <a:gd name="adj" fmla="val 20000"/>
            </a:avLst>
          </a:prstGeom>
          <a:solidFill>
            <a:srgbClr val="FDECEA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2286000" y="4663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0392B"/>
                </a:solidFill>
              </a:rPr>
              <a:t>Verdict: FAIL — injected spikes detected and attributed by Causal Agent ✓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8C8D8"/>
                </a:solidFill>
              </a:rPr>
              <a:t>Measurable impact from day one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4069080" cy="777240"/>
          </a:xfrm>
          <a:prstGeom prst="roundRect">
            <a:avLst>
              <a:gd name="adj" fmla="val 9412"/>
            </a:avLst>
          </a:prstGeom>
          <a:solidFill>
            <a:srgbClr val="132D4A"/>
          </a:solidFill>
          <a:ln w="12700">
            <a:solidFill>
              <a:srgbClr val="132D4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27048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144475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C8E8"/>
                </a:solidFill>
              </a:rPr>
              <a:t>40% Faster RCA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24128" y="1700784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From hours to minutes. Engineers redirect time to tuning and recommendations, not log archaeology.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63440" y="1371600"/>
            <a:ext cx="4069080" cy="777240"/>
          </a:xfrm>
          <a:prstGeom prst="roundRect">
            <a:avLst>
              <a:gd name="adj" fmla="val 9412"/>
            </a:avLst>
          </a:prstGeom>
          <a:solidFill>
            <a:srgbClr val="132D4A"/>
          </a:solidFill>
          <a:ln w="12700">
            <a:solidFill>
              <a:srgbClr val="132D4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527048"/>
            <a:ext cx="402336" cy="4023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21808" y="144475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C8E8"/>
                </a:solidFill>
              </a:rPr>
              <a:t>No Missed Correlations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321808" y="1700784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Cross-source correlation catches failures that single-tool analysis misses — IIS errors triggered by a BLG memory leak.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65760" y="2286000"/>
            <a:ext cx="4069080" cy="777240"/>
          </a:xfrm>
          <a:prstGeom prst="roundRect">
            <a:avLst>
              <a:gd name="adj" fmla="val 9412"/>
            </a:avLst>
          </a:prstGeom>
          <a:solidFill>
            <a:srgbClr val="132D4A"/>
          </a:solidFill>
          <a:ln w="12700">
            <a:solidFill>
              <a:srgbClr val="132D4A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441448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24128" y="235915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C8E8"/>
                </a:solidFill>
              </a:rPr>
              <a:t>Consistent, Audit-Ready Reports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024128" y="2615184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Every run produces an identical HTML + PDF report — branded, client-ready, version-controlled.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663440" y="2286000"/>
            <a:ext cx="4069080" cy="777240"/>
          </a:xfrm>
          <a:prstGeom prst="roundRect">
            <a:avLst>
              <a:gd name="adj" fmla="val 9412"/>
            </a:avLst>
          </a:prstGeom>
          <a:solidFill>
            <a:srgbClr val="132D4A"/>
          </a:solidFill>
          <a:ln w="12700">
            <a:solidFill>
              <a:srgbClr val="132D4A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441448"/>
            <a:ext cx="402336" cy="40233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21808" y="235915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C8E8"/>
                </a:solidFill>
              </a:rPr>
              <a:t>Scales Across Runs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321808" y="2615184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Watch-mode auto-processes logs as they arrive. No engineer needs to babysit the test lab.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365760" y="3200400"/>
            <a:ext cx="4069080" cy="777240"/>
          </a:xfrm>
          <a:prstGeom prst="roundRect">
            <a:avLst>
              <a:gd name="adj" fmla="val 9412"/>
            </a:avLst>
          </a:prstGeom>
          <a:solidFill>
            <a:srgbClr val="132D4A"/>
          </a:solidFill>
          <a:ln w="12700">
            <a:solidFill>
              <a:srgbClr val="132D4A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355848"/>
            <a:ext cx="402336" cy="40233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24128" y="327355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C8E8"/>
                </a:solidFill>
              </a:rPr>
              <a:t>Explainable AI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1024128" y="3529584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Every finding is linked to raw log evidence with timestamps. No black box — full traceability.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4663440" y="3200400"/>
            <a:ext cx="4069080" cy="777240"/>
          </a:xfrm>
          <a:prstGeom prst="roundRect">
            <a:avLst>
              <a:gd name="adj" fmla="val 9412"/>
            </a:avLst>
          </a:prstGeom>
          <a:solidFill>
            <a:srgbClr val="132D4A"/>
          </a:solidFill>
          <a:ln w="12700">
            <a:solidFill>
              <a:srgbClr val="132D4A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3355848"/>
            <a:ext cx="402336" cy="40233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321808" y="327355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C8E8"/>
                </a:solidFill>
              </a:rPr>
              <a:t>Easy Integration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5321808" y="3529584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Drop-in Python package. Works alongside existing JMeter, Gatling, LoadRunner, or k6 workflows.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1B7F9E">
              <a:alpha val="15000"/>
            </a:srgbClr>
          </a:solidFill>
          <a:ln w="12700">
            <a:solidFill>
              <a:srgbClr val="1B7F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8C8D8"/>
                </a:solidFill>
              </a:rPr>
              <a:t>From demo to production in 3 steps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640080" cy="640080"/>
          </a:xfrm>
          <a:prstGeom prst="ellipse">
            <a:avLst/>
          </a:prstGeom>
          <a:solidFill>
            <a:srgbClr val="1B7F9E"/>
          </a:solidFill>
          <a:ln w="12700">
            <a:solidFill>
              <a:srgbClr val="1B7F9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01368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63524" y="2423160"/>
            <a:ext cx="0" cy="1051560"/>
          </a:xfrm>
          <a:prstGeom prst="line">
            <a:avLst/>
          </a:prstGeom>
          <a:noFill/>
          <a:ln w="19050">
            <a:solidFill>
              <a:srgbClr val="1B7F9E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371600" y="1691640"/>
            <a:ext cx="7223760" cy="777240"/>
          </a:xfrm>
          <a:prstGeom prst="roundRect">
            <a:avLst>
              <a:gd name="adj" fmla="val 9412"/>
            </a:avLst>
          </a:prstGeom>
          <a:solidFill>
            <a:srgbClr val="132D4A"/>
          </a:solidFill>
          <a:ln w="12700">
            <a:solidFill>
              <a:srgbClr val="132D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08760" y="175564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C8E8"/>
                </a:solidFill>
              </a:rPr>
              <a:t>Pilot on Real Logs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08760" y="2075688"/>
            <a:ext cx="6903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Share a recent PT run's logs (BLG + IIS + LR). We run the pipeline and present the findings vs. your manual analysis.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640080" cy="640080"/>
          </a:xfrm>
          <a:prstGeom prst="ellipse">
            <a:avLst/>
          </a:prstGeom>
          <a:solidFill>
            <a:srgbClr val="1B7F9E"/>
          </a:solidFill>
          <a:ln w="12700">
            <a:solidFill>
              <a:srgbClr val="1B7F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807208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63524" y="3429000"/>
            <a:ext cx="0" cy="1051560"/>
          </a:xfrm>
          <a:prstGeom prst="line">
            <a:avLst/>
          </a:prstGeom>
          <a:noFill/>
          <a:ln w="19050">
            <a:solidFill>
              <a:srgbClr val="1B7F9E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1371600" y="2697480"/>
            <a:ext cx="7223760" cy="777240"/>
          </a:xfrm>
          <a:prstGeom prst="roundRect">
            <a:avLst>
              <a:gd name="adj" fmla="val 9412"/>
            </a:avLst>
          </a:prstGeom>
          <a:solidFill>
            <a:srgbClr val="132D4A"/>
          </a:solidFill>
          <a:ln w="12700">
            <a:solidFill>
              <a:srgbClr val="132D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08760" y="276148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C8E8"/>
                </a:solidFill>
              </a:rPr>
              <a:t>Tune &amp; Customise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08760" y="3081528"/>
            <a:ext cx="6903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Configure thresholds, alert rules, and report template to match your SLOs and client branding.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794760"/>
            <a:ext cx="640080" cy="640080"/>
          </a:xfrm>
          <a:prstGeom prst="ellipse">
            <a:avLst/>
          </a:prstGeom>
          <a:solidFill>
            <a:srgbClr val="1B7F9E"/>
          </a:solidFill>
          <a:ln w="12700">
            <a:solidFill>
              <a:srgbClr val="1B7F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813048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371600" y="3703320"/>
            <a:ext cx="7223760" cy="777240"/>
          </a:xfrm>
          <a:prstGeom prst="roundRect">
            <a:avLst>
              <a:gd name="adj" fmla="val 9412"/>
            </a:avLst>
          </a:prstGeom>
          <a:solidFill>
            <a:srgbClr val="132D4A"/>
          </a:solidFill>
          <a:ln w="12700">
            <a:solidFill>
              <a:srgbClr val="132D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08760" y="376732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C8E8"/>
                </a:solidFill>
              </a:rPr>
              <a:t>Integrate &amp; Automate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08760" y="4087368"/>
            <a:ext cx="6903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Deploy watch-mode in your test lab. Every new test run is analysed and reported automatically.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468172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5BC8E8"/>
                </a:solidFill>
              </a:rPr>
              <a:t>Let's start the pilot. Bring your logs — we'll have findings by end of week.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PT AI Log Mining — Client Demo</dc:title>
  <dc:subject>PptxGenJS Presentation</dc:subject>
  <dc:creator>Pankaj Kumar</dc:creator>
  <cp:lastModifiedBy>Pankaj Kumar</cp:lastModifiedBy>
  <cp:revision>1</cp:revision>
  <dcterms:created xsi:type="dcterms:W3CDTF">2026-07-01T08:42:08Z</dcterms:created>
  <dcterms:modified xsi:type="dcterms:W3CDTF">2026-07-01T08:42:08Z</dcterms:modified>
</cp:coreProperties>
</file>